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UNICORN Inc.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실무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API부터 MAS까지, 5일 완성 실습 과정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3200400" cy="822960"/>
          </a:xfrm>
          <a:prstGeom prst="rect">
            <a:avLst/>
          </a:prstGeom>
          <a:solidFill>
            <a:srgbClr val="1E293B">
              <a:alpha val="6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1363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유니콘주식회사  |  이해경 (CEO)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Certified Agile Coach  |  PSM I  |  PMP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731520"/>
            <a:ext cx="640080" cy="64008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86868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46720" y="1463040"/>
            <a:ext cx="640080" cy="640080"/>
          </a:xfrm>
          <a:prstGeom prst="ellipse">
            <a:avLst/>
          </a:prstGeom>
          <a:solidFill>
            <a:srgbClr val="0891B2">
              <a:alpha val="7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60020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423160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29600" y="2926080"/>
            <a:ext cx="640080" cy="640080"/>
          </a:xfrm>
          <a:prstGeom prst="ellipse">
            <a:avLst/>
          </a:prstGeom>
          <a:solidFill>
            <a:srgbClr val="06B6D4">
              <a:alpha val="7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06324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132320" y="3657600"/>
            <a:ext cx="640080" cy="64008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794760"/>
            <a:ext cx="36576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669280" y="4572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6355080" y="4572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6126480" y="10515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5897880" y="16459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5669280" y="22402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6355080" y="224028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6126480" y="283464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5897880" y="342900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5669280" y="40233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6355080" y="402336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126480" y="4617720"/>
            <a:ext cx="36576" cy="3657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강사 소개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"실습으로 증명하고, 프로젝트로 완성하는 교육"</a:t>
            </a:r>
            <a:endParaRPr lang="en-US" sz="1200" dirty="0"/>
          </a:p>
        </p:txBody>
      </p:sp>
      <p:pic>
        <p:nvPicPr>
          <p:cNvPr id="6" name="Image 0" descr="/home/claude/images/slide2_img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2011680" cy="2679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이해경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9260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유니콘주식회사 CEO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26080" y="2377440"/>
            <a:ext cx="5669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0" y="2377440"/>
            <a:ext cx="54864" cy="438912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4597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774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IBM Certified Agile Coach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926080" y="2926080"/>
            <a:ext cx="5669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0" y="2926080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0083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9260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PSM I  |  PMP  |  IBM Certified Architect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926080" y="3474720"/>
            <a:ext cx="5669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926080" y="3474720"/>
            <a:ext cx="54864" cy="438912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55701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566160" y="34747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저서: 마이크로서비스패턴 쉽게 개발하기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926080" y="4023360"/>
            <a:ext cx="56692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926080" y="4023360"/>
            <a:ext cx="54864" cy="43891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4105656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566160" y="40233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블로그: 온달의 해피클라우드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19"/>
          <p:cNvSpPr/>
          <p:nvPr/>
        </p:nvSpPr>
        <p:spPr>
          <a:xfrm>
            <a:off x="548640" y="4617720"/>
            <a:ext cx="80467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hiondal@gmail.com   |   82-10-4095-4035   |   happycloud-lee.tistory.com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과정 개요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0" y="320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개발 실무 — 5일 35시간 집중 과정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190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교육명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개발 실무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3756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371600"/>
            <a:ext cx="2468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164592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190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대상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160520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서비스 개발자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백엔드/풀스택 개발자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37160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6"/>
          <p:cNvSpPr/>
          <p:nvPr/>
        </p:nvSpPr>
        <p:spPr>
          <a:xfrm>
            <a:off x="6355080" y="164592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19072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기간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949440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5일 (35시간)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 7시간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31546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3154680"/>
            <a:ext cx="2468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1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50215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목표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37160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 ~ MAS까지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전 과정 실습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3337560" y="31546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37560" y="3154680"/>
            <a:ext cx="2468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26"/>
          <p:cNvSpPr/>
          <p:nvPr/>
        </p:nvSpPr>
        <p:spPr>
          <a:xfrm>
            <a:off x="3566160" y="3429000"/>
            <a:ext cx="457200" cy="4572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502152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6052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교재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16052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자체 교재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17개 챕터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6126480" y="315468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26480" y="3154680"/>
            <a:ext cx="24688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Shape 31"/>
          <p:cNvSpPr/>
          <p:nvPr/>
        </p:nvSpPr>
        <p:spPr>
          <a:xfrm>
            <a:off x="6355080" y="342900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502152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494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실습 방식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94944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58% + 실습 36%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토론 6%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성장 경로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→ Step 5  |  5일간의 여정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2980" y="1691640"/>
            <a:ext cx="457200" cy="457200"/>
          </a:xfrm>
          <a:prstGeom prst="ellipse">
            <a:avLst/>
          </a:prstGeom>
          <a:solidFill>
            <a:srgbClr val="06B6D4">
              <a:alpha val="5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17739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LLM과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대화하기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8529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과정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864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앱 개요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멀티턴 대화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3639312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657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48640" y="38039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/ Claude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API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443984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4622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48640" y="46085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여행 플래너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챗봇</a:t>
            </a:r>
            <a:endParaRPr lang="en-US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011680"/>
            <a:ext cx="118872" cy="11887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103120" y="123444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20" name="Text 16"/>
          <p:cNvSpPr/>
          <p:nvPr/>
        </p:nvSpPr>
        <p:spPr>
          <a:xfrm>
            <a:off x="210312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628900" y="1691640"/>
            <a:ext cx="457200" cy="457200"/>
          </a:xfrm>
          <a:prstGeom prst="ellipse">
            <a:avLst/>
          </a:prstGeom>
          <a:solidFill>
            <a:srgbClr val="8B5CF6">
              <a:alpha val="5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196" y="177393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0312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다루기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103120" y="2834640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194560" y="28529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과정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219456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 요약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/ 멀티모달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2103120" y="3639312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194560" y="3657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2194560" y="38039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Docling / PyMuPDF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/ Gemini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103120" y="4443984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891B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194560" y="44622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2194560" y="46085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요약 시스템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 통합 Agent</a:t>
            </a:r>
            <a:endParaRPr 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2011680"/>
            <a:ext cx="118872" cy="11887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3749040" y="123444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35" name="Text 29"/>
          <p:cNvSpPr/>
          <p:nvPr/>
        </p:nvSpPr>
        <p:spPr>
          <a:xfrm>
            <a:off x="374904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274820" y="1691640"/>
            <a:ext cx="457200" cy="457200"/>
          </a:xfrm>
          <a:prstGeom prst="ellipse">
            <a:avLst/>
          </a:prstGeom>
          <a:solidFill>
            <a:srgbClr val="0891B2">
              <a:alpha val="50000"/>
            </a:srgbClr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1773936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4904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도구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연결하기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749040" y="2834640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840480" y="28529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과정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384048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 / Agent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기초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3749040" y="3639312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840480" y="3657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3840480" y="38039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3749040" y="4443984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891B2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840480" y="44622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3840480" y="46085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 체인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시스템</a:t>
            </a:r>
            <a:endParaRPr lang="en-US" sz="8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944" y="2011680"/>
            <a:ext cx="118872" cy="118872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5394960" y="123444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6D28D9"/>
          </a:solidFill>
          <a:ln/>
        </p:spPr>
      </p:sp>
      <p:sp>
        <p:nvSpPr>
          <p:cNvPr id="50" name="Text 42"/>
          <p:cNvSpPr/>
          <p:nvPr/>
        </p:nvSpPr>
        <p:spPr>
          <a:xfrm>
            <a:off x="539496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5920740" y="1691640"/>
            <a:ext cx="457200" cy="457200"/>
          </a:xfrm>
          <a:prstGeom prst="ellipse">
            <a:avLst/>
          </a:prstGeom>
          <a:solidFill>
            <a:srgbClr val="6D28D9">
              <a:alpha val="50000"/>
            </a:srgbClr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3036" y="1773936"/>
            <a:ext cx="292608" cy="29260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39496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지식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확장하기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5394960" y="2834640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5486400" y="28529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과정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548640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튜닝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웹검색 / YouTube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GraphRAG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5394960" y="3639312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5486400" y="3657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700" dirty="0"/>
          </a:p>
        </p:txBody>
      </p:sp>
      <p:sp>
        <p:nvSpPr>
          <p:cNvPr id="59" name="Text 50"/>
          <p:cNvSpPr/>
          <p:nvPr/>
        </p:nvSpPr>
        <p:spPr>
          <a:xfrm>
            <a:off x="5486400" y="38039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RAGAS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DuckDuckGo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LightRAG / Neo4j</a:t>
            </a:r>
            <a:endParaRPr lang="en-US" sz="800" dirty="0"/>
          </a:p>
        </p:txBody>
      </p:sp>
      <p:sp>
        <p:nvSpPr>
          <p:cNvPr id="60" name="Shape 51"/>
          <p:cNvSpPr/>
          <p:nvPr/>
        </p:nvSpPr>
        <p:spPr>
          <a:xfrm>
            <a:off x="5394960" y="4443984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891B2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5486400" y="44622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700" dirty="0"/>
          </a:p>
        </p:txBody>
      </p:sp>
      <p:sp>
        <p:nvSpPr>
          <p:cNvPr id="62" name="Text 53"/>
          <p:cNvSpPr/>
          <p:nvPr/>
        </p:nvSpPr>
        <p:spPr>
          <a:xfrm>
            <a:off x="5486400" y="46085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튜닝된 RAG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멀티소스 Agent</a:t>
            </a:r>
            <a:endParaRPr lang="en-US" sz="8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2864" y="2011680"/>
            <a:ext cx="118872" cy="118872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7040880" y="1234440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65" name="Text 55"/>
          <p:cNvSpPr/>
          <p:nvPr/>
        </p:nvSpPr>
        <p:spPr>
          <a:xfrm>
            <a:off x="704088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1100" dirty="0"/>
          </a:p>
        </p:txBody>
      </p:sp>
      <p:sp>
        <p:nvSpPr>
          <p:cNvPr id="66" name="Shape 56"/>
          <p:cNvSpPr/>
          <p:nvPr/>
        </p:nvSpPr>
        <p:spPr>
          <a:xfrm>
            <a:off x="7566660" y="1691640"/>
            <a:ext cx="457200" cy="457200"/>
          </a:xfrm>
          <a:prstGeom prst="ellipse">
            <a:avLst/>
          </a:prstGeom>
          <a:solidFill>
            <a:srgbClr val="06B6D4">
              <a:alpha val="50000"/>
            </a:srgbClr>
          </a:solidFill>
          <a:ln/>
        </p:spPr>
      </p:sp>
      <p:pic>
        <p:nvPicPr>
          <p:cNvPr id="6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8956" y="1773936"/>
            <a:ext cx="292608" cy="292608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7040880" y="2240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에이전트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만들기</a:t>
            </a:r>
            <a:endParaRPr lang="en-US" sz="1000" dirty="0"/>
          </a:p>
        </p:txBody>
      </p:sp>
      <p:sp>
        <p:nvSpPr>
          <p:cNvPr id="69" name="Shape 58"/>
          <p:cNvSpPr/>
          <p:nvPr/>
        </p:nvSpPr>
        <p:spPr>
          <a:xfrm>
            <a:off x="7040880" y="2834640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7132320" y="28529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과정</a:t>
            </a:r>
            <a:endParaRPr lang="en-US" sz="700" dirty="0"/>
          </a:p>
        </p:txBody>
      </p:sp>
      <p:sp>
        <p:nvSpPr>
          <p:cNvPr id="71" name="Text 60"/>
          <p:cNvSpPr/>
          <p:nvPr/>
        </p:nvSpPr>
        <p:spPr>
          <a:xfrm>
            <a:off x="713232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 설계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서버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자연어 Agent</a:t>
            </a:r>
            <a:endParaRPr lang="en-US" sz="800" dirty="0"/>
          </a:p>
        </p:txBody>
      </p:sp>
      <p:sp>
        <p:nvSpPr>
          <p:cNvPr id="72" name="Shape 61"/>
          <p:cNvSpPr/>
          <p:nvPr/>
        </p:nvSpPr>
        <p:spPr>
          <a:xfrm>
            <a:off x="7040880" y="3639312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73" name="Text 62"/>
          <p:cNvSpPr/>
          <p:nvPr/>
        </p:nvSpPr>
        <p:spPr>
          <a:xfrm>
            <a:off x="7132320" y="36576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700" dirty="0"/>
          </a:p>
        </p:txBody>
      </p:sp>
      <p:sp>
        <p:nvSpPr>
          <p:cNvPr id="74" name="Text 63"/>
          <p:cNvSpPr/>
          <p:nvPr/>
        </p:nvSpPr>
        <p:spPr>
          <a:xfrm>
            <a:off x="7132320" y="38039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SDK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Dify</a:t>
            </a:r>
            <a:endParaRPr lang="en-US" sz="800" dirty="0"/>
          </a:p>
        </p:txBody>
      </p:sp>
      <p:sp>
        <p:nvSpPr>
          <p:cNvPr id="75" name="Shape 64"/>
          <p:cNvSpPr/>
          <p:nvPr/>
        </p:nvSpPr>
        <p:spPr>
          <a:xfrm>
            <a:off x="7040880" y="4443984"/>
            <a:ext cx="1508760" cy="713232"/>
          </a:xfrm>
          <a:prstGeom prst="rect">
            <a:avLst/>
          </a:prstGeom>
          <a:solidFill>
            <a:srgbClr val="1E293B">
              <a:alpha val="80000"/>
            </a:srgbClr>
          </a:solidFill>
          <a:ln w="3810">
            <a:solidFill>
              <a:srgbClr val="0891B2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7132320" y="44622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700" dirty="0"/>
          </a:p>
        </p:txBody>
      </p:sp>
      <p:sp>
        <p:nvSpPr>
          <p:cNvPr id="77" name="Text 66"/>
          <p:cNvSpPr/>
          <p:nvPr/>
        </p:nvSpPr>
        <p:spPr>
          <a:xfrm>
            <a:off x="7132320" y="46085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 챗봇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서버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DSL 프로토타입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83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1. AI 앱 기초 + LLM API + 멀티턴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LLM과 대화하기  |  7시간 (이론 55% / 실습 37% / 토론 8%)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0195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78024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내용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68696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7768" y="1280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1682496"/>
            <a:ext cx="8503920" cy="78066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682496"/>
            <a:ext cx="45720" cy="7806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1682496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어플리케이션 개요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01952" y="1682496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478024" y="1682496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 패턴, Agent Flow 패턴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트랜스포머 모델, 3-Tier 아키텍처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시스템 흐름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68696" y="1682496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87768" y="1682496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토론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2518029"/>
            <a:ext cx="8503920" cy="780669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518029"/>
            <a:ext cx="45720" cy="7806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518029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 +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프롬프트 엔지니어링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01952" y="2518029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78024" y="2518029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4사 비교 (GPT-4o / Claude /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/ Groq)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Zero/Few-shot, CoT, 파라미터 실험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8696" y="2518029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호출 코드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프롬프트 비교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87768" y="2518029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353562"/>
            <a:ext cx="8503920" cy="78066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353562"/>
            <a:ext cx="45720" cy="7806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353562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기초 +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환경설정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901952" y="3353562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478024" y="3353562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가상환경 (venv)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Pydantic BaseModel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with_structured_output()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568696" y="3353562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개발환경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Pydantic 모델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87768" y="3353562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4189095"/>
            <a:ext cx="8503920" cy="780669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4189095"/>
            <a:ext cx="45720" cy="7806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189095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멀티턴 대화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901952" y="4189095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2.5h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478024" y="4189095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싱글턴 vs 멀티턴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클라이언트/서버 컨텍스트 관리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웹 챗봇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568696" y="4189095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여행 플래너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챗봇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87768" y="4189095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토론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83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2. 데이터 처리 + Function Calling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2~3 — 데이터 다루기 / 도구 연결하기  |  7시간 (이론 45% / 실습 50% / 토론 5%)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0195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78024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내용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68696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7768" y="1280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1682496"/>
            <a:ext cx="8503920" cy="61356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682496"/>
            <a:ext cx="45720" cy="61356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1682496"/>
            <a:ext cx="14630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문서 요약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01952" y="1682496"/>
            <a:ext cx="502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478024" y="1682496"/>
            <a:ext cx="30175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추출적/생성적 요약 비교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EXAONE (Groq LPU)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vs 전문 모델 (KoBART)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68696" y="1682496"/>
            <a:ext cx="1645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뉴스 요약 코드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87768" y="1682496"/>
            <a:ext cx="10058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2350922"/>
            <a:ext cx="8503920" cy="61356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350922"/>
            <a:ext cx="45720" cy="61356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350922"/>
            <a:ext cx="14630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처리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01952" y="2350922"/>
            <a:ext cx="502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78024" y="2350922"/>
            <a:ext cx="30175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Docling (AI) vs PyMuPDF (규칙)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텍스트/테이블/이미지 추출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→ Markdown 변환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8696" y="2350922"/>
            <a:ext cx="1645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처리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파이프라인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87768" y="2350922"/>
            <a:ext cx="10058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019349"/>
            <a:ext cx="8503920" cy="61356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019349"/>
            <a:ext cx="45720" cy="61356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019349"/>
            <a:ext cx="14630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멀티모달 AI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(STT/TTS/VLM)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901952" y="3019349"/>
            <a:ext cx="502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478024" y="3019349"/>
            <a:ext cx="30175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Whisper API (STT)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TTS, Gemini Vision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클라우드 vs 로컬 모델 비교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568696" y="3019349"/>
            <a:ext cx="1645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(데모 관찰)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87768" y="3019349"/>
            <a:ext cx="10058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데모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3687775"/>
            <a:ext cx="8503920" cy="61356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3687775"/>
            <a:ext cx="45720" cy="61356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3687775"/>
            <a:ext cx="14630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기초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901952" y="3687775"/>
            <a:ext cx="502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478024" y="3687775"/>
            <a:ext cx="30175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공통 5단계 워크플로우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3사 API 비교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tool_choice, 병렬/순차 호출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568696" y="3687775"/>
            <a:ext cx="1645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 여행 플래너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(3사 API)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87768" y="3687775"/>
            <a:ext cx="10058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20040" y="4356202"/>
            <a:ext cx="8503920" cy="61356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20040" y="4356202"/>
            <a:ext cx="45720" cy="61356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356202"/>
            <a:ext cx="14630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고급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901952" y="4356202"/>
            <a:ext cx="502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2478024" y="4356202"/>
            <a:ext cx="30175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모델별 고유기능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스트리밍 Function Calling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Tools / 서버도구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568696" y="4356202"/>
            <a:ext cx="164592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스트리밍 FC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287768" y="4356202"/>
            <a:ext cx="1005840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토론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0891B2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83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3. LangChain + RAG 기초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3~4 — 도구 연결하기 / 지식 확장하기  |  7시간 (이론 66% / 실습 29% / 토론 5%)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0195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78024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내용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68696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7768" y="1280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1682496"/>
            <a:ext cx="8503920" cy="78066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682496"/>
            <a:ext cx="45720" cy="78066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1682496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프레임워크 개요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01952" y="1682496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478024" y="1682496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vs 대안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생태계 (Core/LangGraph/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68696" y="1682496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워크플로우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87768" y="1682496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2518029"/>
            <a:ext cx="8503920" cy="780669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518029"/>
            <a:ext cx="45720" cy="78066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518029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인터페이스 +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01952" y="2518029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78024" y="2518029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Models, Prompts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Parsers, LCEL 파이프 (|)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RunnableParallel/Lambda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8696" y="2518029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LCEL 체인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(구조화 출력)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87768" y="2518029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353562"/>
            <a:ext cx="8503920" cy="78066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353562"/>
            <a:ext cx="45720" cy="78066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353562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Agents, Tools,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관리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901952" y="3353562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478024" y="3353562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루프, @tool 커스텀 도구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Checkpointer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568696" y="3353562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+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커스텀 도구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87768" y="3353562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4189095"/>
            <a:ext cx="8503920" cy="780669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4189095"/>
            <a:ext cx="45720" cy="78066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189095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기초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901952" y="4189095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3h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478024" y="4189095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Naive/Advanced/Modular RAG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인덱싱 (Load-Split-Embed-Store)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Search, RAGAS 평가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568696" y="4189095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기본 RAG 시스템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(Chroma +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Multi-Query)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87768" y="4189095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토론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6D28D9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83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4. RAG 고급 + GraphRAG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지식 확장하기  |  7시간 (이론 61% / 실습 37% / 토론 5%)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0195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78024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내용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68696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7768" y="1280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1682496"/>
            <a:ext cx="8503920" cy="78066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682496"/>
            <a:ext cx="45720" cy="780669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1682496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품질 튜닝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01952" y="1682496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478024" y="1682496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시맨틱 청킹, 임베딩 최적화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하이브리드 검색 (Dense+BM25)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리랭킹, RAGAS 평가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68696" y="1682496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튜닝된 RAG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(전후 비교)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87768" y="1682496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2518029"/>
            <a:ext cx="8503920" cy="780669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518029"/>
            <a:ext cx="45720" cy="780669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518029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LLM 개념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01952" y="2518029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78024" y="2518029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Ollama/LlamaCpp/HuggingFace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GGUF 포맷, 양자화 (Q4/Q5/Q8)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한국어 모델 소개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8696" y="2518029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(개념 학습)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87768" y="2518029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353562"/>
            <a:ext cx="8503920" cy="78066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353562"/>
            <a:ext cx="45720" cy="780669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353562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웹검색 + YouTube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통합 Agent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901952" y="3353562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478024" y="3353562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Tavily/DuckDuckGo/Serper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자막 추출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멀티소스 RAG, 캐싱/Resilience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568696" y="3353562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웹검색 Agent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멀티소스 Agent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87768" y="3353562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0040" y="4189095"/>
            <a:ext cx="8503920" cy="780669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4189095"/>
            <a:ext cx="45720" cy="780669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189095"/>
            <a:ext cx="14630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GraphRAG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901952" y="4189095"/>
            <a:ext cx="502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478024" y="4189095"/>
            <a:ext cx="30175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RAG vs GraphRAG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인덱싱 (엔터티/관계/커뮤니티)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Local/Global/Hybrid Search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568696" y="4189095"/>
            <a:ext cx="164592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LightRAG 시스템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검색 품질 비교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87768" y="4189095"/>
            <a:ext cx="1005840" cy="78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데모 토론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383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5. MAS + MCP + 자연어 Agent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 — 에이전트 만들기  |  7시간 (이론 65% / 실습 30% / 토론 5%)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01952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78024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내용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68696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87768" y="1280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방법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" y="1682496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1682496"/>
            <a:ext cx="45720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168249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멀티에이전트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(MAS)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01952" y="168249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478024" y="168249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 패턴, A2A 프로토콜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Card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 패턴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(ReAct/Planning/Collaboration)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68696" y="168249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 패턴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 챗봇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87768" y="1682496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2606040"/>
            <a:ext cx="850392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606040"/>
            <a:ext cx="45720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606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(Model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Protocol)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01952" y="26060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2.5h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78024" y="2606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JSON-RPC 2.0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Tools/Resources/Prompts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Sampling/Elicitation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 2.1, MCP SDK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68696" y="2606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서버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연동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87768" y="26060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데모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3529584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529584"/>
            <a:ext cx="45720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52958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자연어로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개발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901952" y="352958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478024" y="352958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자연어 → 프로토타입 → 프로덕션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Dify Visual Builder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DSL 구조, 5단계 워크플로우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568696" y="352958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Dify 고객 상담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프로토타입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287768" y="352958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실습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토론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차별성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현장 적용 가능한 AI Agent 개발 역량 완성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468880" cy="1508760"/>
          </a:xfrm>
          <a:prstGeom prst="rect">
            <a:avLst/>
          </a:prstGeom>
          <a:solidFill>
            <a:srgbClr val="1E293B">
              <a:alpha val="9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35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실습 중심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전체 시간의 36% 실습 + 6% 토론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매일 실습 과제 부여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통합 프로젝트로 마무리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234440"/>
            <a:ext cx="2468880" cy="1508760"/>
          </a:xfrm>
          <a:prstGeom prst="rect">
            <a:avLst/>
          </a:prstGeom>
          <a:solidFill>
            <a:srgbClr val="1E293B">
              <a:alpha val="9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15270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435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최신 트렌드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2025~2026 최신 기술 반영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MCP, GraphRAG, A2A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Dify, Claude Code 활용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468880" cy="1508760"/>
          </a:xfrm>
          <a:prstGeom prst="rect">
            <a:avLst/>
          </a:prstGeom>
          <a:solidFill>
            <a:srgbClr val="1E293B">
              <a:alpha val="9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0891B2">
              <a:alpha val="6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52704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435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 LLM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OpenAI, Claude, Gemini, Groq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4개 LLM 비교 실습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벤더 종속 없는 개발 역량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063240"/>
            <a:ext cx="2468880" cy="1508760"/>
          </a:xfrm>
          <a:prstGeom prst="rect">
            <a:avLst/>
          </a:prstGeom>
          <a:solidFill>
            <a:srgbClr val="1E293B">
              <a:alpha val="90000"/>
            </a:srgbClr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6D28D9">
              <a:alpha val="6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도식화 학습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 다이어그램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워크플로우 시각화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비교표 중심 설명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3063240"/>
            <a:ext cx="2468880" cy="1508760"/>
          </a:xfrm>
          <a:prstGeom prst="rect">
            <a:avLst/>
          </a:prstGeom>
          <a:solidFill>
            <a:srgbClr val="1E293B">
              <a:alpha val="9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20440" y="3246120"/>
            <a:ext cx="502920" cy="50292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168" y="335584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통합 과제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2044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5일 학습 기술 종합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시스템 구현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(2주 내 제출)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063240"/>
            <a:ext cx="2468880" cy="1508760"/>
          </a:xfrm>
          <a:prstGeom prst="rect">
            <a:avLst/>
          </a:prstGeom>
          <a:solidFill>
            <a:srgbClr val="1E293B">
              <a:alpha val="9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3246120"/>
            <a:ext cx="502920" cy="502920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335584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방식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0936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이론 → 데모 → 실습 → 토론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4단계 순환 구조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점진적 난이도 상승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평가 방법 및 통합 프로젝트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5일간의 학습을 종합하는 프로젝트 기반 평가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459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기술적 완성도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필수 기술 3개 이상 통합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정상 동작, 에러 처리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51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805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 설계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적절한 기술 선택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 가능 구조, 문서화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265176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152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발표 및 시연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명확한 설명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실제 동작 시연, Q&amp;A 대응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1920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54864" cy="1920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81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통합 프로젝트 안내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47472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주제  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5일간 학습한 기술을 종합한 실무 AI Agent 시스템 구현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7307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팀 구성  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개인 또는 2~3인 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98678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제출 기한  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종료 후 2주 이내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2428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필수 포함 기술  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API, 데이터 처리, RAG, Agent 도구 연동, MAS 중 3개 이상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4988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제출물  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소스 코드 (GitHub) + 아키텍처 문서 + 데모 영상 (5분) + 발표 자료 (10분)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개발 실무 교육 제안서</dc:title>
  <dc:subject>PptxGenJS Presentation</dc:subject>
  <dc:creator>유니콘주식회사</dc:creator>
  <cp:lastModifiedBy>유니콘주식회사</cp:lastModifiedBy>
  <cp:revision>1</cp:revision>
  <dcterms:created xsi:type="dcterms:W3CDTF">2026-02-15T02:24:41Z</dcterms:created>
  <dcterms:modified xsi:type="dcterms:W3CDTF">2026-02-15T02:24:41Z</dcterms:modified>
</cp:coreProperties>
</file>