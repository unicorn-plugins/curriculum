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2200" userDrawn="1">
          <p15:clr>
            <a:srgbClr val="A4A3A4"/>
          </p15:clr>
        </p15:guide>
        <p15:guide id="4" pos="657" userDrawn="1">
          <p15:clr>
            <a:srgbClr val="A4A3A4"/>
          </p15:clr>
        </p15:guide>
        <p15:guide id="5" pos="295" userDrawn="1">
          <p15:clr>
            <a:srgbClr val="A4A3A4"/>
          </p15:clr>
        </p15:guide>
        <p15:guide id="6" pos="1814" userDrawn="1">
          <p15:clr>
            <a:srgbClr val="A4A3A4"/>
          </p15:clr>
        </p15:guide>
        <p15:guide id="7" pos="4082" userDrawn="1">
          <p15:clr>
            <a:srgbClr val="A4A3A4"/>
          </p15:clr>
        </p15:guide>
        <p15:guide id="8" pos="4876" userDrawn="1">
          <p15:clr>
            <a:srgbClr val="A4A3A4"/>
          </p15:clr>
        </p15:guide>
        <p15:guide id="9" pos="54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912" y="480"/>
      </p:cViewPr>
      <p:guideLst>
        <p:guide orient="horz" pos="1620"/>
        <p:guide pos="2880"/>
        <p:guide pos="2200"/>
        <p:guide pos="657"/>
        <p:guide pos="295"/>
        <p:guide pos="1814"/>
        <p:guide pos="4082"/>
        <p:guide pos="4876"/>
        <p:guide pos="54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76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6057900"/>
          </a:xfrm>
          <a:prstGeom prst="rect">
            <a:avLst/>
          </a:prstGeom>
          <a:solidFill>
            <a:srgbClr val="0F766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3200400"/>
            <a:ext cx="3657600" cy="2743200"/>
          </a:xfrm>
          <a:prstGeom prst="rect">
            <a:avLst/>
          </a:prstGeom>
          <a:solidFill>
            <a:srgbClr val="0F766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" y="548640"/>
            <a:ext cx="5486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PROPOSAL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생성형 AI Agent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제안서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2286000" cy="1828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 대표이사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이해경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914400"/>
            <a:ext cx="3383280" cy="2286000"/>
          </a:xfrm>
          <a:prstGeom prst="rect">
            <a:avLst/>
          </a:prstGeom>
          <a:solidFill>
            <a:srgbClr val="1A2744"/>
          </a:solidFill>
          <a:ln w="1905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577840" y="10058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도구가 아니라 동료입니다.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많은 개발자들이 AI와 함께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혁신적인 어플리케이션을 만드는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세상을 꿈꿉니다."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8428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인사말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485" y="10058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5485" y="1508760"/>
            <a:ext cx="63142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저의 꿈은 더 많은 개발자들이 AI 기술을 활용하여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혁신적인 어플리케이션을 만드는 세상을 구현하는 것입니다.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246888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425485" y="2651760"/>
            <a:ext cx="6314259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425485" y="2651760"/>
            <a:ext cx="54864" cy="1965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685" y="288036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88525" y="2788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이해경 (갑빠)</a:t>
            </a:r>
            <a:endParaRPr lang="en-US" sz="18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Agile Coach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888525" y="3566160"/>
            <a:ext cx="445116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Application Developer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Scrum Master (PSM I, II)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Certified Architect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온달의 해피클라우드 운영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6460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hiondal@gmail.com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864608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3192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온달의 해피클라우드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40080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8427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5192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Hands-On 개요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5192" y="137160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5192" y="137160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72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5272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55272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7일 (56시간)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8072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기본과정 3일 + 심화과정 4일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21232" y="137160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321232" y="1371600"/>
            <a:ext cx="24688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112" y="1554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61312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61312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04112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백엔드/풀스택 개발자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27272" y="137160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927272" y="1371600"/>
            <a:ext cx="246888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152" y="15544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67352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567352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~ Multi-Agent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110152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앱 개발 역량 확보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15192" y="30632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715192" y="3063240"/>
            <a:ext cx="24688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72" y="32461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55272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355272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실무 적용 패턴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98072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프로젝트 2회 수행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321232" y="30632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3321232" y="3063240"/>
            <a:ext cx="246888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4112" y="324612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61312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961312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+ ADVANCED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504112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AI기초, RAG, Agent, MCP, Dify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927272" y="30632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5927272" y="3063240"/>
            <a:ext cx="2468880" cy="36576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0152" y="324612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567352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수행사례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567352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산출물 7종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6110152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 챗봇 ~ 하이브리드 Agent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/>
          <p:nvPr/>
        </p:nvSpPr>
        <p:spPr>
          <a:xfrm>
            <a:off x="731520" y="4873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  |  생성형 AI Agent Hands-On 교육 제안서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777240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8428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0264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기본과정(BASIC)에서 심화과정(ADVANCED)으로 이어지는 단계별 학습 로드맵</a:t>
            </a:r>
            <a:endParaRPr lang="en-US" sz="1400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11D8899-0900-0462-EC54-9B4FB225CE65}"/>
              </a:ext>
            </a:extLst>
          </p:cNvPr>
          <p:cNvGrpSpPr/>
          <p:nvPr/>
        </p:nvGrpSpPr>
        <p:grpSpPr>
          <a:xfrm>
            <a:off x="470262" y="1280160"/>
            <a:ext cx="3473088" cy="3200400"/>
            <a:chOff x="470262" y="1280160"/>
            <a:chExt cx="3255265" cy="3200400"/>
          </a:xfrm>
        </p:grpSpPr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8118388C-490A-0786-BC56-B242A720B9B4}"/>
                </a:ext>
              </a:extLst>
            </p:cNvPr>
            <p:cNvGrpSpPr/>
            <p:nvPr/>
          </p:nvGrpSpPr>
          <p:grpSpPr>
            <a:xfrm>
              <a:off x="470262" y="1280160"/>
              <a:ext cx="3255265" cy="320040"/>
              <a:chOff x="470262" y="1280160"/>
              <a:chExt cx="3255265" cy="320040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470263" y="1280160"/>
                <a:ext cx="3255264" cy="320040"/>
              </a:xfrm>
              <a:prstGeom prst="rect">
                <a:avLst/>
              </a:prstGeom>
              <a:solidFill>
                <a:srgbClr val="3B82F6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470262" y="1280160"/>
                <a:ext cx="3255263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BASIC</a:t>
                </a:r>
                <a:endParaRPr lang="en-US" sz="1200" dirty="0"/>
              </a:p>
            </p:txBody>
          </p:sp>
        </p:grpSp>
        <p:sp>
          <p:nvSpPr>
            <p:cNvPr id="12" name="Shape 10"/>
            <p:cNvSpPr/>
            <p:nvPr/>
          </p:nvSpPr>
          <p:spPr>
            <a:xfrm>
              <a:off x="470263" y="1691640"/>
              <a:ext cx="1024128" cy="22860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470263" y="1691640"/>
              <a:ext cx="10241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1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70263" y="1938528"/>
              <a:ext cx="1024128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470263" y="1938528"/>
              <a:ext cx="1024128" cy="8229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AI 기초 &amp;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개발환경 구축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470263" y="2834640"/>
              <a:ext cx="1024128" cy="77724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470263" y="283464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Python, </a:t>
              </a:r>
              <a:b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</a:b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Claude/Gemini/OpenAI API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70263" y="3703320"/>
              <a:ext cx="1024128" cy="777240"/>
            </a:xfrm>
            <a:prstGeom prst="rect">
              <a:avLst/>
            </a:prstGeom>
            <a:solidFill>
              <a:srgbClr val="3B82F6">
                <a:alpha val="12000"/>
              </a:srgbClr>
            </a:solidFill>
            <a:ln/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470263" y="370332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B82F6"/>
                  </a:solidFill>
                  <a:latin typeface="+mn-ea"/>
                  <a:cs typeface="Calibri" pitchFamily="34" charset="-120"/>
                </a:rPr>
                <a:t>역할극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3B82F6"/>
                  </a:solidFill>
                  <a:latin typeface="+mn-ea"/>
                  <a:cs typeface="Calibri" pitchFamily="34" charset="-120"/>
                </a:rPr>
                <a:t>챗봇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494391" y="2103120"/>
              <a:ext cx="10058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4A3B8"/>
                  </a:solidFill>
                  <a:latin typeface="+mn-ea"/>
                  <a:cs typeface="Calibri" pitchFamily="34" charset="-120"/>
                </a:rPr>
                <a:t>▸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585831" y="1691640"/>
              <a:ext cx="1024128" cy="22860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585831" y="1691640"/>
              <a:ext cx="10241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2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585831" y="1938528"/>
              <a:ext cx="1024128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1585831" y="1938528"/>
              <a:ext cx="1024128" cy="8229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문서 처리 &amp;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음성 AI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585831" y="2834640"/>
              <a:ext cx="1024128" cy="77724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585831" y="283464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PyPDF2, Whisper,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TTS API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1585831" y="3703320"/>
              <a:ext cx="1024128" cy="777240"/>
            </a:xfrm>
            <a:prstGeom prst="rect">
              <a:avLst/>
            </a:prstGeom>
            <a:solidFill>
              <a:srgbClr val="3B82F6">
                <a:alpha val="12000"/>
              </a:srgbClr>
            </a:solidFill>
            <a:ln/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1585831" y="370332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B82F6"/>
                  </a:solidFill>
                  <a:latin typeface="+mn-ea"/>
                  <a:cs typeface="Calibri" pitchFamily="34" charset="-120"/>
                </a:rPr>
                <a:t>음성 대화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3B82F6"/>
                  </a:solidFill>
                  <a:latin typeface="+mn-ea"/>
                  <a:cs typeface="Calibri" pitchFamily="34" charset="-120"/>
                </a:rPr>
                <a:t>시스템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2609959" y="2103120"/>
              <a:ext cx="10058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4A3B8"/>
                  </a:solidFill>
                  <a:latin typeface="+mn-ea"/>
                  <a:cs typeface="Calibri" pitchFamily="34" charset="-120"/>
                </a:rPr>
                <a:t>▸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2701399" y="1691640"/>
              <a:ext cx="1024128" cy="22860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2701399" y="1691640"/>
              <a:ext cx="10241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3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2701399" y="1938528"/>
              <a:ext cx="1024128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2701399" y="1938528"/>
              <a:ext cx="1024128" cy="8229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비전 AI &amp;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Local LLM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2701399" y="2834640"/>
              <a:ext cx="1024128" cy="77724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2701399" y="283464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Claude Vision,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Ollama, Llama 3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2701399" y="3703320"/>
              <a:ext cx="1024128" cy="777240"/>
            </a:xfrm>
            <a:prstGeom prst="rect">
              <a:avLst/>
            </a:prstGeom>
            <a:solidFill>
              <a:srgbClr val="3B82F6">
                <a:alpha val="12000"/>
              </a:srgbClr>
            </a:solidFill>
            <a:ln/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2701399" y="370332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B82F6"/>
                  </a:solidFill>
                  <a:latin typeface="+mn-ea"/>
                  <a:cs typeface="Calibri" pitchFamily="34" charset="-120"/>
                </a:rPr>
                <a:t>멀티모달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3B82F6"/>
                  </a:solidFill>
                  <a:latin typeface="+mn-ea"/>
                  <a:cs typeface="Calibri" pitchFamily="34" charset="-120"/>
                </a:rPr>
                <a:t>리포트 생성기</a:t>
              </a:r>
              <a:endParaRPr lang="en-US" sz="1200" dirty="0">
                <a:latin typeface="+mn-ea"/>
              </a:endParaRPr>
            </a:p>
          </p:txBody>
        </p:sp>
      </p:grpSp>
      <p:sp>
        <p:nvSpPr>
          <p:cNvPr id="38" name="Text 36"/>
          <p:cNvSpPr/>
          <p:nvPr/>
        </p:nvSpPr>
        <p:spPr>
          <a:xfrm>
            <a:off x="3942204" y="2628900"/>
            <a:ext cx="376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+mn-ea"/>
                <a:cs typeface="Calibri" pitchFamily="34" charset="-120"/>
              </a:rPr>
              <a:t>▶</a:t>
            </a:r>
            <a:endParaRPr lang="en-US" sz="1200" dirty="0">
              <a:latin typeface="+mn-ea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FEDE5D9F-95AA-D6E0-9CD9-33144829EEC8}"/>
              </a:ext>
            </a:extLst>
          </p:cNvPr>
          <p:cNvGrpSpPr/>
          <p:nvPr/>
        </p:nvGrpSpPr>
        <p:grpSpPr>
          <a:xfrm>
            <a:off x="4290491" y="1280160"/>
            <a:ext cx="4388143" cy="3200400"/>
            <a:chOff x="4037399" y="1280160"/>
            <a:chExt cx="4388143" cy="3200400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19D8B456-DA7E-B048-A989-B2007A95AA97}"/>
                </a:ext>
              </a:extLst>
            </p:cNvPr>
            <p:cNvGrpSpPr/>
            <p:nvPr/>
          </p:nvGrpSpPr>
          <p:grpSpPr>
            <a:xfrm>
              <a:off x="4037399" y="1280160"/>
              <a:ext cx="4388143" cy="320040"/>
              <a:chOff x="4655273" y="1280160"/>
              <a:chExt cx="1371600" cy="320040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4655273" y="1280160"/>
                <a:ext cx="1371600" cy="320040"/>
              </a:xfrm>
              <a:prstGeom prst="rect">
                <a:avLst/>
              </a:prstGeom>
              <a:solidFill>
                <a:srgbClr val="8B5CF6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4655273" y="1280160"/>
                <a:ext cx="13716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ADVANCED</a:t>
                </a:r>
                <a:endParaRPr lang="en-US" sz="1200" dirty="0"/>
              </a:p>
            </p:txBody>
          </p:sp>
        </p:grpSp>
        <p:sp>
          <p:nvSpPr>
            <p:cNvPr id="39" name="Shape 37"/>
            <p:cNvSpPr/>
            <p:nvPr/>
          </p:nvSpPr>
          <p:spPr>
            <a:xfrm>
              <a:off x="4037400" y="1691640"/>
              <a:ext cx="1024128" cy="228600"/>
            </a:xfrm>
            <a:prstGeom prst="rect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4037400" y="1691640"/>
              <a:ext cx="10241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4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037400" y="1938528"/>
              <a:ext cx="1024128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4037400" y="1938528"/>
              <a:ext cx="1024128" cy="8229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도구 연동 &amp;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프레임워크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4037400" y="2834640"/>
              <a:ext cx="1024128" cy="77724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4037400" y="283464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dirty="0" err="1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LangChain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4037400" y="3703320"/>
              <a:ext cx="1024128" cy="777240"/>
            </a:xfrm>
            <a:prstGeom prst="rect">
              <a:avLst/>
            </a:prstGeom>
            <a:solidFill>
              <a:srgbClr val="8B5CF6">
                <a:alpha val="12000"/>
              </a:srgbClr>
            </a:solidFill>
            <a:ln/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4037400" y="370332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+mn-ea"/>
                  <a:cs typeface="Calibri" pitchFamily="34" charset="-120"/>
                </a:rPr>
                <a:t>Agent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+mn-ea"/>
                  <a:cs typeface="Calibri" pitchFamily="34" charset="-120"/>
                </a:rPr>
                <a:t>챗봇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5061528" y="2103120"/>
              <a:ext cx="10058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4A3B8"/>
                  </a:solidFill>
                  <a:latin typeface="+mn-ea"/>
                  <a:cs typeface="Calibri" pitchFamily="34" charset="-120"/>
                </a:rPr>
                <a:t>▸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5152968" y="1691640"/>
              <a:ext cx="1024128" cy="228600"/>
            </a:xfrm>
            <a:prstGeom prst="rect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5152968" y="1691640"/>
              <a:ext cx="10241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5</a:t>
              </a:r>
              <a:endParaRPr lang="en-US" sz="10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152968" y="1938528"/>
              <a:ext cx="1024128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5152968" y="1938528"/>
              <a:ext cx="1024128" cy="8229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RAG 구축 &amp;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튜닝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5152968" y="2834640"/>
              <a:ext cx="1024128" cy="77724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5152968" y="283464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Chroma, FAISS,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Reranker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5152968" y="3703320"/>
              <a:ext cx="1024128" cy="777240"/>
            </a:xfrm>
            <a:prstGeom prst="rect">
              <a:avLst/>
            </a:prstGeom>
            <a:solidFill>
              <a:srgbClr val="8B5CF6">
                <a:alpha val="12000"/>
              </a:srgbClr>
            </a:solidFill>
            <a:ln/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5152968" y="370332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+mn-ea"/>
                  <a:cs typeface="Calibri" pitchFamily="34" charset="-120"/>
                </a:rPr>
                <a:t>사내 Q&amp;A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+mn-ea"/>
                  <a:cs typeface="Calibri" pitchFamily="34" charset="-120"/>
                </a:rPr>
                <a:t>시스템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6177096" y="2103120"/>
              <a:ext cx="10058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4A3B8"/>
                  </a:solidFill>
                  <a:latin typeface="+mn-ea"/>
                  <a:cs typeface="Calibri" pitchFamily="34" charset="-120"/>
                </a:rPr>
                <a:t>▸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6268536" y="1691640"/>
              <a:ext cx="1024128" cy="228600"/>
            </a:xfrm>
            <a:prstGeom prst="rect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56"/>
            <p:cNvSpPr/>
            <p:nvPr/>
          </p:nvSpPr>
          <p:spPr>
            <a:xfrm>
              <a:off x="6268536" y="1691640"/>
              <a:ext cx="10241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6</a:t>
              </a:r>
              <a:endParaRPr lang="en-US" sz="10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6268536" y="1938528"/>
              <a:ext cx="1024128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60" name="Text 58"/>
            <p:cNvSpPr/>
            <p:nvPr/>
          </p:nvSpPr>
          <p:spPr>
            <a:xfrm>
              <a:off x="6268536" y="1938528"/>
              <a:ext cx="1024128" cy="8229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고급 RAG &amp;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Agent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6268536" y="2834640"/>
              <a:ext cx="1024128" cy="77724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2" name="Text 60"/>
            <p:cNvSpPr/>
            <p:nvPr/>
          </p:nvSpPr>
          <p:spPr>
            <a:xfrm>
              <a:off x="6268536" y="283464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Neo4j, LangGraph,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NetworkX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63" name="Shape 61"/>
            <p:cNvSpPr/>
            <p:nvPr/>
          </p:nvSpPr>
          <p:spPr>
            <a:xfrm>
              <a:off x="6268536" y="3703320"/>
              <a:ext cx="1024128" cy="777240"/>
            </a:xfrm>
            <a:prstGeom prst="rect">
              <a:avLst/>
            </a:prstGeom>
            <a:solidFill>
              <a:srgbClr val="8B5CF6">
                <a:alpha val="12000"/>
              </a:srgbClr>
            </a:solidFill>
            <a:ln/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64" name="Text 62"/>
            <p:cNvSpPr/>
            <p:nvPr/>
          </p:nvSpPr>
          <p:spPr>
            <a:xfrm>
              <a:off x="6268536" y="370332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+mn-ea"/>
                  <a:cs typeface="Calibri" pitchFamily="34" charset="-120"/>
                </a:rPr>
                <a:t>멀티에이전트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+mn-ea"/>
                  <a:cs typeface="Calibri" pitchFamily="34" charset="-120"/>
                </a:rPr>
                <a:t>리서치봇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7292664" y="2103120"/>
              <a:ext cx="10058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4A3B8"/>
                  </a:solidFill>
                  <a:latin typeface="+mn-ea"/>
                  <a:cs typeface="Calibri" pitchFamily="34" charset="-120"/>
                </a:rPr>
                <a:t>▸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7384104" y="1691640"/>
              <a:ext cx="1024128" cy="228600"/>
            </a:xfrm>
            <a:prstGeom prst="rect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 65"/>
            <p:cNvSpPr/>
            <p:nvPr/>
          </p:nvSpPr>
          <p:spPr>
            <a:xfrm>
              <a:off x="7384104" y="1691640"/>
              <a:ext cx="10241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7</a:t>
              </a:r>
              <a:endParaRPr lang="en-US" sz="10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7384104" y="1938528"/>
              <a:ext cx="1024128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7384104" y="1938528"/>
              <a:ext cx="1024128" cy="8229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통합 &amp;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E293B"/>
                  </a:solidFill>
                  <a:latin typeface="+mn-ea"/>
                  <a:cs typeface="Calibri" pitchFamily="34" charset="-120"/>
                </a:rPr>
                <a:t>실무 적용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7384104" y="2834640"/>
              <a:ext cx="1024128" cy="77724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71" name="Text 69"/>
            <p:cNvSpPr/>
            <p:nvPr/>
          </p:nvSpPr>
          <p:spPr>
            <a:xfrm>
              <a:off x="7384104" y="283464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MCP, Dify,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475569"/>
                  </a:solidFill>
                  <a:latin typeface="+mn-ea"/>
                  <a:cs typeface="Calibri" pitchFamily="34" charset="-120"/>
                </a:rPr>
                <a:t>API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72" name="Shape 70"/>
            <p:cNvSpPr/>
            <p:nvPr/>
          </p:nvSpPr>
          <p:spPr>
            <a:xfrm>
              <a:off x="7384104" y="3703320"/>
              <a:ext cx="1024128" cy="777240"/>
            </a:xfrm>
            <a:prstGeom prst="rect">
              <a:avLst/>
            </a:prstGeom>
            <a:solidFill>
              <a:srgbClr val="8B5CF6">
                <a:alpha val="12000"/>
              </a:srgbClr>
            </a:solidFill>
            <a:ln/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73" name="Text 71"/>
            <p:cNvSpPr/>
            <p:nvPr/>
          </p:nvSpPr>
          <p:spPr>
            <a:xfrm>
              <a:off x="7384104" y="3703320"/>
              <a:ext cx="1024128" cy="7772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+mn-ea"/>
                  <a:cs typeface="Calibri" pitchFamily="34" charset="-120"/>
                </a:rPr>
                <a:t>하이브리드</a:t>
              </a:r>
              <a:endParaRPr lang="en-US" sz="12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+mn-ea"/>
                  <a:cs typeface="Calibri" pitchFamily="34" charset="-120"/>
                </a:rPr>
                <a:t>Agent</a:t>
              </a:r>
              <a:endParaRPr lang="en-US" sz="1200" dirty="0">
                <a:latin typeface="+mn-ea"/>
              </a:endParaRPr>
            </a:p>
          </p:txBody>
        </p:sp>
      </p:grpSp>
      <p:sp>
        <p:nvSpPr>
          <p:cNvPr id="74" name="Shape 72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731520" y="4873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  |  생성형 AI Agent Hands-On 교육 제안서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77240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Curriculum: 기본과정 (3일)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1~2일차 — AI 기초, 프롬프트 엔지니어링, 문서·음성 AI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302134"/>
              </p:ext>
            </p:extLst>
          </p:nvPr>
        </p:nvGraphicFramePr>
        <p:xfrm>
          <a:off x="457200" y="841248"/>
          <a:ext cx="8237764" cy="3986784"/>
        </p:xfrm>
        <a:graphic>
          <a:graphicData uri="http://schemas.openxmlformats.org/drawingml/2006/table">
            <a:tbl>
              <a:tblPr/>
              <a:tblGrid>
                <a:gridCol w="573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2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0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88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모듈명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산출물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1일차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생성형 AI 개요와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개발환경 구축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생성형 AI 기본 개념 이해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Claude/Gemini/ OpenAI API 설정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Python 개발환경 구성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개발환경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API 기초와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프롬프트 엔지니어링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API 호출 메커니즘 이해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프롬프트 작성 전략 (Few-shot, CoT)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Temperature, Max Tokens 튜닝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멀티턴 대화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시스템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대화 히스토리 관리 패턴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컨텍스트 윈도우 최적화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실습: 역할극 챗봇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챗봇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2일차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 요약과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텍스트 분석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Map-Reduce 패턴으로 긴 문서 처리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요약 품질 향상 전략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감정 분석, 키워드 추출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문서 처리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및 Q&amp;A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PyPDF2, pdfplumber 활용 PDF 파싱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구조화된 텍스트 추출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문서 기반 질의응답 시스템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 AI: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STT+LLM+TTS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Whisper API로 음성→텍스트 변환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LLM 응답 생성 + TTS 음성 출력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실습: 음성 대화 파이프라인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 대화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시스템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4873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  |  생성형 AI Agent Hands-On 교육 제안서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Curriculum: 기본과정 (3일)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3일차 — 비전 AI, Local LLM, 종합 프로젝트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97138"/>
              </p:ext>
            </p:extLst>
          </p:nvPr>
        </p:nvGraphicFramePr>
        <p:xfrm>
          <a:off x="468312" y="841248"/>
          <a:ext cx="8207377" cy="3986784"/>
        </p:xfrm>
        <a:graphic>
          <a:graphicData uri="http://schemas.openxmlformats.org/drawingml/2006/table">
            <a:tbl>
              <a:tblPr/>
              <a:tblGrid>
                <a:gridCol w="566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7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모듈명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산출물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13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3일차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VLM: 이미지를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이해하는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Vision Language Model 개요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Claude Vision, GPT-4 Vision 활용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이미지 분석, 캡션 생성, 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13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LLM 구축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(Ollama)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Ollama 설치 및 모델 다운로드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Llama 3, Mistral 오픈소스 모델 활용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Cloud vs Local 비교 및 선택 기준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13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기본과정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종합 프로젝트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멀티모달 리포트 생성기 구현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이미지 분석 + 문서 요약 + 음성 출력 통합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멀티모달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리포트 생성기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4"/>
          <p:cNvSpPr/>
          <p:nvPr/>
        </p:nvSpPr>
        <p:spPr>
          <a:xfrm>
            <a:off x="731520" y="4873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  |  생성형 AI Agent Hands-On 교육 제안서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Curriculum: 심화과정 전반 (2일)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Function Calling, LangChain, RAG 파이프라인 구축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71855"/>
              </p:ext>
            </p:extLst>
          </p:nvPr>
        </p:nvGraphicFramePr>
        <p:xfrm>
          <a:off x="468312" y="841248"/>
          <a:ext cx="8207377" cy="3986784"/>
        </p:xfrm>
        <a:graphic>
          <a:graphicData uri="http://schemas.openxmlformats.org/drawingml/2006/table">
            <a:tbl>
              <a:tblPr/>
              <a:tblGrid>
                <a:gridCol w="566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7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모듈명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산출물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1일차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Calling: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LLM에 도구 연결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Function Calling 메커니즘 이해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외부 API 연동 (날씨, 검색, DB 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에러 핸들링과 재시도 전략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기초와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LangChain 아키텍처 이해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LangChain Expression 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Prompt Template, Output Parser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활용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대화형 체인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Conversation Buffer / Summary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실습: LangChain Agent 챗봇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도구 자동 선택 (웹검색, 계산기 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챗봇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2일차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파이프라인: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인덱싱→검색→생성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Document Loader → Text Splitter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Vector Store (Chroma, FAISS) 임베딩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Retriever로 관련 문서 검색 후 생성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품질 튜닝: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청킹, 리랭킹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Chunk Size 최적화 전략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Cohere Reranker로 정확도 향상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BM25 + Vector Search 하이브리드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웹검색 통합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Tavily, Google Search API 연동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실시간 정보 + 내부 문서 통합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실습: 사내 문서 Q&amp;A 시스템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사내 Q&amp;A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시스템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4873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  |  생성형 AI Agent Hands-On 교육 제안서</a:t>
            </a:r>
            <a:endParaRPr lang="en-US" sz="900" dirty="0"/>
          </a:p>
        </p:txBody>
      </p:sp>
      <p:sp>
        <p:nvSpPr>
          <p:cNvPr id="5" name="Text 5"/>
          <p:cNvSpPr/>
          <p:nvPr/>
        </p:nvSpPr>
        <p:spPr>
          <a:xfrm>
            <a:off x="777240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Curriculum: 심화과정 후반 (2일)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GraphRAG, Multi-Agent, MCP, Dify 플랫폼 통합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302613"/>
              </p:ext>
            </p:extLst>
          </p:nvPr>
        </p:nvGraphicFramePr>
        <p:xfrm>
          <a:off x="457200" y="841248"/>
          <a:ext cx="8218490" cy="3986784"/>
        </p:xfrm>
        <a:graphic>
          <a:graphicData uri="http://schemas.openxmlformats.org/drawingml/2006/table">
            <a:tbl>
              <a:tblPr/>
              <a:tblGrid>
                <a:gridCol w="566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9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모듈명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산출물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3일차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지식 그래프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기존 RAG의 한계와 GraphRAG 필요성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Neo4j, NetworkX로 지식 그래프 구축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엔티티 추출 → 관계 추출 → 그래프 쿼리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설계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에이전트 역할 분담 전략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Researcher, Coder, Reviewer 에이전트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에이전트 간 통신 및 협업 패턴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에이전트 워크플로우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LangGraph로 복잡한 에이전트 흐름 설계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조건부 분기, 병렬 실행, 재귀 루프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실습: 멀티에이전트 리서치봇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멀티에이전트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리서치봇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4일차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MCP: 표준화된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통합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Model Context Protocol 개요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MCP 서버 구축 및 클라이언트 연결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다양한 도구를 표준 인터페이스로 통합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Dify: 노코드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 플랫폼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Dify 플랫폼 소개 및 설치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드래그앤드롭으로 RAG/Agent 워크플로우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API 배포 및 프론트엔드 연동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6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심화과정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종합 프로젝트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노코드 + 코드 하이브리드 Agent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Dify 프로토타입 → Python 커스텀 확장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MCP로 사내 시스템(CRM, ERP) 연동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하이브리드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4873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  |  생성형 AI Agent Hands-On 교육 제안서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1068</Words>
  <Application>Microsoft Macintosh PowerPoint</Application>
  <PresentationFormat>화면 슬라이드 쇼(16:9)</PresentationFormat>
  <Paragraphs>330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Agent Hands-On 교육 제안서</dc:title>
  <dc:subject>PptxGenJS Presentation</dc:subject>
  <dc:creator>유니콘주식회사</dc:creator>
  <cp:lastModifiedBy>해경 이</cp:lastModifiedBy>
  <cp:revision>19</cp:revision>
  <dcterms:created xsi:type="dcterms:W3CDTF">2026-02-14T19:33:16Z</dcterms:created>
  <dcterms:modified xsi:type="dcterms:W3CDTF">2026-02-14T20:09:00Z</dcterms:modified>
</cp:coreProperties>
</file>