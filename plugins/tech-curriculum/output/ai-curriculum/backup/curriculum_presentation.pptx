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5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49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2286000"/>
          </a:xfrm>
          <a:prstGeom prst="rect">
            <a:avLst/>
          </a:prstGeom>
          <a:solidFill>
            <a:srgbClr val="E8F5E0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sessions/funny-loving-tesla/mnt/gen-ai-curriculum/output/ai-curriculum/images/slide_01_cover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2286000" y="2560320"/>
            <a:ext cx="457200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어플리케이션 개발 교육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기초부터 고급까지, 7일간의 완벽한 여정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교육 과정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시대, 개발자에게 요구되는 새로운 역량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개발자들이 겪고 있는 3가지 Pain Point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solidFill>
            <a:srgbClr val="E8F5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457200" cy="457200"/>
          </a:xfrm>
          <a:prstGeom prst="line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30759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API는 알지만, 실전 적용 방법을 모른다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호출은 할 수 있지만, 실무에 어떻게 적용해야 할지 막막함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챗봇을 넘어서는 복잡한 시스템 구현 경험 부족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solidFill>
            <a:srgbClr val="E8F5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457200" cy="457200"/>
          </a:xfrm>
          <a:prstGeom prst="line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RAG, Agent 같은 용어는 들었지만 구현은 막막하다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개념은 이해하지만, 실제 코드로 구현하는 방법을 모름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프레임워크(LangChain)는 복잡하고 러닝커브가 높음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1097280"/>
          </a:xfrm>
          <a:prstGeom prst="rect">
            <a:avLst/>
          </a:prstGeom>
          <a:solidFill>
            <a:srgbClr val="E8F5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457200" cy="457200"/>
          </a:xfrm>
          <a:prstGeom prst="line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776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빠르게 변하는 AI 생태계, 체계적 학습 경로가 필요하다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GraphRAG, MCP 등 새로운 기술이 너무 빠르게 등장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단편적인 튜토리얼만 보면서 학습하기엔 한계가 있음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7일간의 완벽한 AI 개발 로드맵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40% : 실습 60%의 실전 중심 커리큘럼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E8F5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1: 기본과정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(24시간)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목표: AI 개요부터 멀티모달까지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1: AI 어플리케이션 기초 (8시간)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API, 프롬프트 엔지니어링, 멀티턴 대화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2: 문서 처리와 음성 AI (8시간)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요약, PDF 처리, STT/TTS 파이프라인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3: 비전 AI와 Local LLM (8시간)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VLM, Ollama, 종합 프로젝트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2651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0C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&gt;&gt;&gt;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E8F5E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2: 심화과정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 (32시간)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목표: RAG, Agent, MCP까지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1: 도구 연동과 프레임워크 (8시간)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Call, LangChain, Memory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2: RAG 구축과 튜닝 (8시간)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파이프라인, 품질 튜닝, 웹검색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3: 고급 RAG와 에이전트 (8시간)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GraphRAG, Multi-Agent System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4: 통합과 실무 적용 (8시간)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MCP, Dify, 종합 프로젝트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0C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D0F0C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0" y="9144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228B22">
                    <a:alpha val="2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0" dirty="0"/>
          </a:p>
        </p:txBody>
      </p:sp>
      <p:pic>
        <p:nvPicPr>
          <p:cNvPr id="4" name="Image 0" descr="/sessions/funny-loving-tesla/mnt/gen-ai-curriculum/output/ai-curriculum/images/slide_04_section_basic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6400800" y="3200400"/>
            <a:ext cx="228600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1. 기본과정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기초부터 멀티모달 AI까지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(24시간) | 이론 40% : 실습 60%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1. AI 어플리케이션 기초 (8시간)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개요부터 멀티턴 대화 시스템까지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개요와 개발환경 구축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기본 개념 이해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API, OpenAI API 설정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개발환경 구성 (VSCode, Jupyter)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98348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기초와 프롬프트 엔지니어링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호출 메커니즘 이해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작성 전략 (Few-shot, CoT)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Temperature, Max Tokens 파라미터 튜닝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271576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멀티턴 대화 시스템 구현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히스토리 관리 패턴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윈도우 최적화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역할극 챗봇 구현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"페르소나를 가진 역할극 챗봇 구현"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역할(상담사, 면접관 등)을 수행하는 챗봇 / 대화 히스토리를 유지하며 자연스러운 응답 생성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2. 문서 처리와 음성 AI (8시간)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요약부터 음성 대화 파이프라인까지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요약과 텍스트 분석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Map-Reduce 패턴으로 긴 문서 처리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품질 향상 전략 (청킹, 계층적 요약)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분석, 키워드 추출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98348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문서 처리 및 Q&amp;A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PyPDF2, pdfplumber를 활용한 PDF 파싱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구조화된 텍스트 추출 (테이블, 이미지 캡션)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기반 질의응답 시스템 구현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271576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AI: STT + LLM + TTS 파이프라인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API로 음성→텍스트 변환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LLM으로 응답 생성 + TTS 음성 출력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음성 대화 파이프라인 구현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"음성 대화 파이프라인 구현"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입력 → 텍스트 변환 → LLM 응답 → 음성 출력 / 실시간 대화 시스템 프로토타입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3. 비전 AI와 Local LLM (8시간)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AI와 로컬 LLM 구축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5720" cy="11887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🖼️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VLM: 이미지를 이해하는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Language Model 개요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Vision API, GPT-4 Vision 활용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분석, 캡션 생성, OCR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5720" cy="11887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98348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🖥️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LLM 구축 (Ollama)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4630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설치 및 모델 다운로드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 3, Mistral 등 오픈소스 모델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vs Local 비교 및 선택 기준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8229600" cy="10058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 LLM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C8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Local LLM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8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최신 성능  /  ✅ 관리 불필요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데이터 프라이버시  /  ✅ 비용 효율성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비용 발생  /  ❌ 데이터 전송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성능 제한  /  ❌ 인프라 관리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57200" y="3611880"/>
            <a:ext cx="45720" cy="82296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94360" y="372160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94360" y="3721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0584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기본과정 종합 프로젝트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5840" y="4023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멀티모달 리포트 생성기 — 이미지 분석 + 문서 요약 + 음성 출력 통합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6B1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0" y="91440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50C878">
                    <a:alpha val="2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0" dirty="0"/>
          </a:p>
        </p:txBody>
      </p:sp>
      <p:pic>
        <p:nvPicPr>
          <p:cNvPr id="4" name="Image 0" descr="/sessions/funny-loving-tesla/mnt/gen-ai-curriculum/output/ai-curriculum/images/slide_08_section_advanc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6400800" y="3200400"/>
            <a:ext cx="228600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2. 심화과정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Call부터 Multi-Agent까지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 (32시간) | 실전 중심 고급 기술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Day 1. 도구 연동과 프레임워크 (8시간)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Calling과 LangChain 마스터하기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Calling: LLM에 도구 연결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Calling 메커니즘 이해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 연동 (날씨, 검색, DB 등)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핸들링과 재시도 전략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98348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기초와 LCEL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아키텍처 이해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Expression Language (LCEL)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Template, Output Parser 활용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271576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Memory를 활용한 대화형 체인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Conversation Buffer Memory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Conversation Summary Memory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LangChain Agent 챗봇 구현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"도구를 사용하는 LangChain Agent 챗봇"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웹검색, 계산기, 날씨 API 등 도구 활용 / 사용자 요청에 따라 자동으로 적절한 도구 선택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Day 2. RAG 구축과 튜닝 (8시간)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Retrieval-Augmented Generation 완벽 정복</a:t>
            </a:r>
            <a:endParaRPr lang="en-US" sz="1500" dirty="0"/>
          </a:p>
        </p:txBody>
      </p:sp>
      <p:pic>
        <p:nvPicPr>
          <p:cNvPr id="6" name="Image 0" descr="/sessions/funny-loving-tesla/mnt/gen-ai-curriculum/output/ai-curriculum/images/slide_10_rag_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051560"/>
            <a:ext cx="384048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45720" cy="182880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9436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436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🏗️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파이프라인: 인덱싱→검색→생성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146304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Loader로 문서 로드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 Splitter로 청킹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Store (Chroma, FAISS)에 임베딩 저장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Retriever로 관련 문서 검색 후 LLM 생성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57200" y="3017520"/>
            <a:ext cx="45720" cy="100584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94360" y="312724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9436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튜닝: 청킹, 리랭킹, 하이브리드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29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 Size 최적화 / Cohere Reranker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+ Vector Search 하이브리드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301752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846320" y="3017520"/>
            <a:ext cx="45720" cy="100584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983480" y="312724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98348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9496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웹검색 통합 RAG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94960" y="3429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Tavily, Google Search API 연동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사내 문서 Q&amp;A 시스템 구현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"사내 문서 Q&amp;A 시스템"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내부 PDF, Word 문서 인덱싱 / 질문에 대한 정확한 답변 + 출처 제공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Day 3. 고급 RAG와 에이전트 (8시간)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GraphRAG와 Multi-Agent System 설계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5720" cy="150876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🕸️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GraphRAG: 지식 그래프 기반 RAG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RAG의 한계와 GraphRAG의 필요성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Neo4j, NetworkX로 지식 그래프 구축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 추출 → 관계 추출 → 그래프 쿼리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질문에 대한 추론 능력 향상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38404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5720" cy="150876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98348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System 설계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463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역할 분담 전략</a:t>
            </a:r>
            <a:endParaRPr lang="en-US" sz="1000" dirty="0"/>
          </a:p>
          <a:p>
            <a:pPr>
              <a:lnSpc>
                <a:spcPct val="110000"/>
              </a:lnSpc>
              <a:buSzPct val="100000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Researcher, Coder, Reviewer </a:t>
            </a:r>
            <a:r>
              <a:rPr lang="en-US" sz="1000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</a:t>
            </a:r>
            <a:r>
              <a:rPr lang="en-US" sz="1000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</a:t>
            </a: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간 통신 및 협업 패턴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45720" cy="128016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280720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2807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788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LangGraph를 활용한 에이전트 워크플로우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1089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LangGraph로 복잡한 에이전트 흐름 설계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분기, 병렬 실행, 재귀 루프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멀티에이전트 리서치봇 구현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"멀티에이전트 리서치봇"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Researcher(웹검색) + Analyzer(정보 분석) + Writer(리포트 작성) 에이전트 협업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Day 4. 통합과 실무 적용 (8시간)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MCP와 Dify로 실전 프로젝트 완성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MCP: 표준화된 도구 통합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 개요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구축 및 클라이언트 연결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도구를 표준 인터페이스로 통합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983480" y="116128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1161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Dify: 노코드 AI Agent 플랫폼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1463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 플랫폼 소개 및 설치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드래그앤드롭으로 RAG, </a:t>
            </a:r>
            <a:b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워크플로우 구성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배포 및 프론트엔드 연동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38404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2715768"/>
            <a:ext cx="320040" cy="320040"/>
          </a:xfrm>
          <a:prstGeom prst="line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심화과정 종합 프로젝트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노코드 + 코드 하이브리드 Agent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Dify로 빠른 프로토타입 → </a:t>
            </a:r>
            <a:b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커스텀 확장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외부 시스템 통합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D0F0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실습 예제: "하이브리드 AI Agent 시스템"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Dify UI + Python 고급 로직(GraphRAG) + MCP 사내 시스템(CRM, ERP) 연동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교육 과정의 3가지 차별점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교육을 선택해야 하는가?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즉시 투입 가능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비중 60% — 매 모듈마다 hands-on 랩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 실무 조합 패턴 제공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사내문서 Q&amp;A, 회의록 자동화, 리서치봇 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743200" cy="54864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20624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최신 트렌드 반영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GraphRAG — 차세대 RAG 기술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System (MAS)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+ Dify 노코드 플랫폼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72200" y="1051560"/>
            <a:ext cx="2743200" cy="54864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13232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평가 시스템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실습 평가 50%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 30% (기본/심화 각 1회)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퀴즈 20% + 즉각 피드백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후 바로 적용 가능한 5가지 패턴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시나리오별 기술 조합 가이드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문서 Q&amp;A 시스템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051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Vector DB + Reranker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1051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HR 정책, 기술 매뉴얼, 법률 계약서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1161288"/>
            <a:ext cx="822960" cy="329184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72400" y="11612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회의록 자동화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(Whisper) + 요약 + TTS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9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회의, 고객 미팅, 교육 세션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0" y="1801368"/>
            <a:ext cx="822960" cy="329184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0" y="18013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리서치봇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 + 웹검색 + GraphRAG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조사, 경쟁사 분석, 기술 동향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2441448"/>
            <a:ext cx="822960" cy="329184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72400" y="24414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3-5일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상담 챗봇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Call + Memory + RAG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지원, 제품 추천, FAQ 자동 응답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3081528"/>
            <a:ext cx="822960" cy="329184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772400" y="30815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분석 리포트 생성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3464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+ 문서 생성 + 템플릿 엔진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949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검사, 매장 모니터링, 의료 이미지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3721608"/>
            <a:ext cx="822960" cy="329184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772400" y="37216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50C8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수료 후 1주일 내 실무 프로젝트 시작 가능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31520" y="946729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8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후, 당신은 AI 개발 전문가가 됩니다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371600" y="157665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LLM API부터 GraphRAG까지 완벽 마스터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실무에 바로 적용 가능한 5가지 패턴 습득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최신 트렌드(MCP, Dify, Multi-Agent) 완전 정복</a:t>
            </a:r>
            <a:endParaRPr lang="en-US" sz="16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CC83EC-CE96-E460-2C0A-D9E49C07C889}"/>
              </a:ext>
            </a:extLst>
          </p:cNvPr>
          <p:cNvGrpSpPr/>
          <p:nvPr/>
        </p:nvGrpSpPr>
        <p:grpSpPr>
          <a:xfrm>
            <a:off x="2286000" y="2765370"/>
            <a:ext cx="4572000" cy="548640"/>
            <a:chOff x="2286000" y="3291840"/>
            <a:chExt cx="4572000" cy="548640"/>
          </a:xfrm>
        </p:grpSpPr>
        <p:sp>
          <p:nvSpPr>
            <p:cNvPr id="6" name="Shape 3"/>
            <p:cNvSpPr/>
            <p:nvPr/>
          </p:nvSpPr>
          <p:spPr>
            <a:xfrm>
              <a:off x="2286000" y="3291840"/>
              <a:ext cx="4572000" cy="548640"/>
            </a:xfrm>
            <a:prstGeom prst="rect">
              <a:avLst/>
            </a:prstGeom>
            <a:solidFill>
              <a:srgbClr val="228B22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4"/>
            <p:cNvSpPr/>
            <p:nvPr/>
          </p:nvSpPr>
          <p:spPr>
            <a:xfrm>
              <a:off x="2286000" y="3291840"/>
              <a:ext cx="45720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지금 바로 시작하세요</a:t>
              </a:r>
              <a:endParaRPr lang="en-US" sz="2000" dirty="0"/>
            </a:p>
          </p:txBody>
        </p:sp>
      </p:grpSp>
      <p:sp>
        <p:nvSpPr>
          <p:cNvPr id="8" name="Text 5"/>
          <p:cNvSpPr/>
          <p:nvPr/>
        </p:nvSpPr>
        <p:spPr>
          <a:xfrm>
            <a:off x="228600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Email: education@example.com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Tel: 02-1234-5678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Web: www.ai-education.com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 for your attention! — Q&amp;A Session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1494</Words>
  <Application>Microsoft Macintosh PowerPoint</Application>
  <PresentationFormat>화면 슬라이드 쇼(16:9)</PresentationFormat>
  <Paragraphs>270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어플리케이션 개발 교육</dc:title>
  <dc:subject>PptxGenJS Presentation</dc:subject>
  <dc:creator>Dream Ondal</dc:creator>
  <cp:lastModifiedBy>해경 이</cp:lastModifiedBy>
  <cp:revision>6</cp:revision>
  <dcterms:created xsi:type="dcterms:W3CDTF">2026-02-14T17:53:13Z</dcterms:created>
  <dcterms:modified xsi:type="dcterms:W3CDTF">2026-02-14T18:11:15Z</dcterms:modified>
</cp:coreProperties>
</file>