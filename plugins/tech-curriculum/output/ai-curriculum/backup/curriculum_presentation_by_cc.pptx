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0" y="0"/>
            <a:ext cx="3962095" cy="2286000"/>
          </a:xfrm>
          <a:prstGeom prst="rect">
            <a:avLst/>
          </a:prstGeom>
          <a:solidFill>
            <a:srgbClr val="D0F0C0"/>
          </a:solidFill>
          <a:ln>
            <a:solidFill>
              <a:srgbClr val="D0F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228B22"/>
                </a:solidFill>
                <a:latin typeface="맑은 고딕"/>
              </a:rPr>
              <a:t>생성형 AI 어플리케이션 개발 교육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333333"/>
                </a:solidFill>
                <a:latin typeface="맑은 고딕"/>
              </a:rPr>
              <a:t>기초부터 고급까지, 7일간의 완벽한 여정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808080"/>
                </a:solidFill>
                <a:latin typeface="맑은 고딕"/>
              </a:rPr>
              <a:t>2026년 교육 과정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28B22"/>
                </a:solidFill>
                <a:latin typeface="맑은 고딕"/>
              </a:rPr>
              <a:t>AI 시대, 개발자에게 요구되는 새로운 역량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맑은 고딕"/>
              </a:rPr>
              <a:t>현재 개발자들이 겪고 있는 3가지 Pain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828800"/>
            <a:ext cx="10972800" cy="1371600"/>
          </a:xfrm>
          <a:prstGeom prst="rect">
            <a:avLst/>
          </a:prstGeom>
          <a:solidFill>
            <a:srgbClr val="D0F0C0"/>
          </a:solidFill>
          <a:ln>
            <a:solidFill>
              <a:srgbClr val="D0F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82880" rIns="182880"/>
          <a:lstStyle/>
          <a:p>
            <a:pPr algn="l"/>
            <a:r>
              <a:rPr sz="1600" b="1">
                <a:solidFill>
                  <a:srgbClr val="333333"/>
                </a:solidFill>
                <a:latin typeface="맑은 고딕"/>
              </a:rPr>
              <a:t>❌ LLM API는 알지만, 실전 적용 방법을 모른다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맑은 고딕"/>
              </a:rPr>
              <a:t>• API 호출은 할 수 있지만, 실무에 어떻게 적용해야 할지 막막함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맑은 고딕"/>
              </a:rPr>
              <a:t>• 단순 챗봇을 넘어서는 복잡한 시스템 구현 경험 부족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3474720"/>
            <a:ext cx="10972800" cy="1371600"/>
          </a:xfrm>
          <a:prstGeom prst="rect">
            <a:avLst/>
          </a:prstGeom>
          <a:solidFill>
            <a:srgbClr val="D0F0C0"/>
          </a:solidFill>
          <a:ln>
            <a:solidFill>
              <a:srgbClr val="D0F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82880" rIns="182880"/>
          <a:lstStyle/>
          <a:p>
            <a:pPr algn="l"/>
            <a:r>
              <a:rPr sz="1600" b="1">
                <a:solidFill>
                  <a:srgbClr val="333333"/>
                </a:solidFill>
                <a:latin typeface="맑은 고딕"/>
              </a:rPr>
              <a:t>❌ RAG, Agent 같은 용어는 들었지만 구현은 막막하다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맑은 고딕"/>
              </a:rPr>
              <a:t>• 개념은 이해하지만, 실제 코드로 구현하는 방법을 모름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맑은 고딕"/>
              </a:rPr>
              <a:t>• 프레임워크(LangChain)는 복잡하고 러닝커브가 높음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5120640"/>
            <a:ext cx="10972800" cy="1371600"/>
          </a:xfrm>
          <a:prstGeom prst="rect">
            <a:avLst/>
          </a:prstGeom>
          <a:solidFill>
            <a:srgbClr val="D0F0C0"/>
          </a:solidFill>
          <a:ln>
            <a:solidFill>
              <a:srgbClr val="D0F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82880" rIns="182880"/>
          <a:lstStyle/>
          <a:p>
            <a:pPr algn="l"/>
            <a:r>
              <a:rPr sz="1600" b="1">
                <a:solidFill>
                  <a:srgbClr val="333333"/>
                </a:solidFill>
                <a:latin typeface="맑은 고딕"/>
              </a:rPr>
              <a:t>❌ 빠르게 변하는 AI 생태계, 체계적 학습 경로가 필요하다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맑은 고딕"/>
              </a:rPr>
              <a:t>• GraphRAG, MCP 등 새로운 기술이 너무 빠르게 등장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맑은 고딕"/>
              </a:rPr>
              <a:t>• 단편적인 튜토리얼만 보면서 학습하기엔 한계가 있음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28B22"/>
                </a:solidFill>
                <a:latin typeface="맑은 고딕"/>
              </a:rPr>
              <a:t>7일간의 완벽한 AI 개발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맑은 고딕"/>
              </a:rPr>
              <a:t>이론 40% : 실습 60%의 실전 중심 커리큘럼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2011680"/>
            <a:ext cx="5029200" cy="4114800"/>
          </a:xfrm>
          <a:prstGeom prst="rect">
            <a:avLst/>
          </a:prstGeom>
          <a:solidFill>
            <a:srgbClr val="D0F0C0"/>
          </a:solidFill>
          <a:ln>
            <a:solidFill>
              <a:srgbClr val="D0F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📅 3일 (24시간)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🎯 학습 목표: AI 개요부터 멀티모달까지</a:t>
            </a:r>
          </a:p>
          <a:p>
            <a:pPr algn="l"/>
          </a:p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Day 1: AI 어플리케이션 기초 (8시간)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LLM API, 프롬프트 엔지니어링, 멀티턴 대화</a:t>
            </a:r>
          </a:p>
          <a:p>
            <a:pPr algn="l"/>
          </a:p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Day 2: 문서 처리와 음성 AI (8시간)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문서 요약, PDF 처리, STT/TTS 파이프라인</a:t>
            </a:r>
          </a:p>
          <a:p>
            <a:pPr algn="l"/>
          </a:p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Day 3: 비전 AI와 Local LLM (8시간)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VLM, Ollama, 종합 프로젝트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38404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50C878"/>
                </a:solidFill>
                <a:latin typeface="맑은 고딕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6547104" y="2011680"/>
            <a:ext cx="5029200" cy="4114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📅 4일 (32시간)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🎯 학습 목표: RAG, Agent, MCP까지</a:t>
            </a:r>
          </a:p>
          <a:p>
            <a:pPr algn="l"/>
          </a:p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Day 1: 도구 연동과 프레임워크 (8시간)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• Function Call, LangChain, Memory</a:t>
            </a:r>
          </a:p>
          <a:p>
            <a:pPr algn="l"/>
          </a:p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Day 2: RAG 구축과 튜닝 (8시간)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• RAG 파이프라인, 품질 튜닝, 웹검색</a:t>
            </a:r>
          </a:p>
          <a:p>
            <a:pPr algn="l"/>
          </a:p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Day 3: 고급 RAG와 에이전트 (8시간)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• GraphRAG, Multi-Agent System</a:t>
            </a:r>
          </a:p>
          <a:p>
            <a:pPr algn="l"/>
          </a:p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Day 4: 통합과 실무 적용 (8시간)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• MCP, Dify, 종합 프로젝트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PART 1. 기본과정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LLM API 기초부터 멀티모달 AI까지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3일 (24시간) | 이론 40% : 실습 60%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4315968" y="1600200"/>
            <a:ext cx="3566160" cy="3291840"/>
          </a:xfrm>
          <a:prstGeom prst="roundRect">
            <a:avLst/>
          </a:prstGeom>
          <a:solidFill>
            <a:srgbClr val="D0F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3566160" cy="3291840"/>
          </a:xfrm>
          <a:prstGeom prst="roundRect">
            <a:avLst/>
          </a:prstGeom>
          <a:solidFill>
            <a:srgbClr val="D0F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612648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28B22"/>
                </a:solidFill>
                <a:latin typeface="맑은 고딕"/>
              </a:rPr>
              <a:t>Day 1. AI 어플리케이션 기초 (8시간)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맑은 고딕"/>
              </a:rPr>
              <a:t>생성형 AI 개요부터 멀티턴 대화 시스템까지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45920"/>
            <a:ext cx="3474720" cy="3200400"/>
          </a:xfrm>
          <a:prstGeom prst="rect">
            <a:avLst/>
          </a:prstGeom>
          <a:noFill/>
        </p:spPr>
        <p:txBody>
          <a:bodyPr wrap="square" tIns="91440" lIns="137160" rIns="13716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💡 생성형 AI 개요와 개발환경 구축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생성형 AI 기본 개념 이해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Claude API, OpenAI API 설정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Python 개발환경 구성 (VSCode, Jupyter)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61688" y="1645920"/>
            <a:ext cx="3474720" cy="3200400"/>
          </a:xfrm>
          <a:prstGeom prst="rect">
            <a:avLst/>
          </a:prstGeom>
          <a:noFill/>
        </p:spPr>
        <p:txBody>
          <a:bodyPr wrap="square" tIns="91440" lIns="137160" rIns="13716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🎯 LLM API 기초와 프롬프트 엔지니어링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API 호출 메커니즘 이해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프롬프트 작성 전략 (Few-shot, CoT)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Temperature, Max Tokens 등 파라미터 튜닝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10728" y="1645920"/>
            <a:ext cx="3474720" cy="3200400"/>
          </a:xfrm>
          <a:prstGeom prst="rect">
            <a:avLst/>
          </a:prstGeom>
          <a:noFill/>
        </p:spPr>
        <p:txBody>
          <a:bodyPr wrap="square" tIns="91440" lIns="137160" rIns="13716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💬 멀티턴 대화 시스템 구현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대화 히스토리 관리 패턴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컨텍스트 윈도우 최적화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실습: 역할극 챗봇 구현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5303520"/>
            <a:ext cx="10972800" cy="914400"/>
          </a:xfrm>
          <a:prstGeom prst="rect">
            <a:avLst/>
          </a:prstGeom>
          <a:solidFill>
            <a:srgbClr val="D0F0C0"/>
          </a:solidFill>
          <a:ln>
            <a:solidFill>
              <a:srgbClr val="D0F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✅ 실습 예제: "페르소나를 가진 역할극 챗봇 구현"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다양한 역할(상담사, 면접관 등)을 수행하는 챗봇 | 대화 히스토리를 유지하며 자연스러운 응답 생성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28B22"/>
                </a:solidFill>
                <a:latin typeface="맑은 고딕"/>
              </a:rPr>
              <a:t>Day 2. 문서 처리와 음성 AI (8시간)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맑은 고딕"/>
              </a:rPr>
              <a:t>문서 요약부터 음성 대화 파이프라인까지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45920"/>
            <a:ext cx="3474720" cy="3200400"/>
          </a:xfrm>
          <a:prstGeom prst="rect">
            <a:avLst/>
          </a:prstGeom>
          <a:noFill/>
        </p:spPr>
        <p:txBody>
          <a:bodyPr wrap="square" tIns="91440" lIns="137160" rIns="13716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📄 문서 요약과 텍스트 분석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Map-Reduce 패턴으로 긴 문서 처리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요약 품질 향상 전략 (청킹, 계층적 요약)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감정 분석, 키워드 추출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61688" y="1645920"/>
            <a:ext cx="3474720" cy="3200400"/>
          </a:xfrm>
          <a:prstGeom prst="rect">
            <a:avLst/>
          </a:prstGeom>
          <a:noFill/>
        </p:spPr>
        <p:txBody>
          <a:bodyPr wrap="square" tIns="91440" lIns="137160" rIns="13716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📑 PDF 문서 처리 및 Q&amp;A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PyPDF2, pdfplumber를 활용한 PDF 파싱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구조화된 텍스트 추출 (테이블, 이미지 캡션)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문서 기반 질의응답 시스템 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10728" y="1645920"/>
            <a:ext cx="3474720" cy="3200400"/>
          </a:xfrm>
          <a:prstGeom prst="rect">
            <a:avLst/>
          </a:prstGeom>
          <a:noFill/>
        </p:spPr>
        <p:txBody>
          <a:bodyPr wrap="square" tIns="91440" lIns="137160" rIns="13716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🎤 음성 AI: STT + LLM + TTS 파이프라인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Whisper API로 음성을 텍스트로 변환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LLM으로 응답 생성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TTS API로 음성 출력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실습: 음성 대화 파이프라인 구현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5303520"/>
            <a:ext cx="10972800" cy="914400"/>
          </a:xfrm>
          <a:prstGeom prst="rect">
            <a:avLst/>
          </a:prstGeom>
          <a:solidFill>
            <a:srgbClr val="D0F0C0"/>
          </a:solidFill>
          <a:ln>
            <a:solidFill>
              <a:srgbClr val="D0F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✅ 실습 예제: "음성 대화 파이프라인 구현"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음성 입력 → 텍스트 변환 → LLM 응답 → 음성 출력 | 실시간 대화 시스템 프로토타입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28B22"/>
                </a:solidFill>
                <a:latin typeface="맑은 고딕"/>
              </a:rPr>
              <a:t>Day 3. 비전 AI와 Local LLM (8시간)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맑은 고딕"/>
              </a:rPr>
              <a:t>멀티모달 AI와 로컬 LLM 구축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459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🖼️ VLM: 이미지를 이해하는 AI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Vision Language Model 개요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Claude Vision API, GPT-4 Vision 활용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이미지 분석, 캡션 생성, OCR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73368" y="16459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🖥️ Local LLM 구축 (Ollama)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Ollama 설치 및 모델 다운로드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Llama 3, Mistral 등 오픈소스 모델 활용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Cloud vs Local 비교 및 선택 기준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648" y="3840480"/>
          <a:ext cx="10972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274320">
                <a:tc>
                  <a:txBody>
                    <a:bodyPr/>
                    <a:lstStyle/>
                    <a:p>
                      <a:pPr>
                        <a:defRPr sz="1200" b="1">
                          <a:latin typeface="맑은 고딕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Cloud LLM</a:t>
                      </a:r>
                    </a:p>
                  </a:txBody>
                  <a:tcPr>
                    <a:solidFill>
                      <a:srgbClr val="228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맑은 고딕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Local LLM</a:t>
                      </a:r>
                    </a:p>
                  </a:txBody>
                  <a:tcPr>
                    <a:solidFill>
                      <a:srgbClr val="228B2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✅ 최신 성능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✅ 데이터 프라이버시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✅ 관리 불필요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✅ 비용 효율성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❌ 비용 발생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❌ 성능 제한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❌ 데이터 전송 필요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맑은 고딕"/>
                        </a:defRPr>
                      </a:pPr>
                      <a:r>
                        <a:t>❌ 인프라 관리 필요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🎯 기본과정 종합 프로젝트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실습: 멀티모달 리포트 생성기 | 이미지 분석 + 문서 요약 + 음성 출력 통합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6B1A"/>
          </a:solidFill>
          <a:ln>
            <a:solidFill>
              <a:srgbClr val="1A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PART 2. 심화과정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Function Call부터 Multi-Agent까지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4일 (32시간) | 실전 중심 고급 기술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ounded Rectangle 7"/>
          <p:cNvSpPr/>
          <p:nvPr/>
        </p:nvSpPr>
        <p:spPr>
          <a:xfrm>
            <a:off x="566928" y="1600200"/>
            <a:ext cx="3566160" cy="3291840"/>
          </a:xfrm>
          <a:prstGeom prst="roundRect">
            <a:avLst/>
          </a:prstGeom>
          <a:solidFill>
            <a:srgbClr val="D0F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612648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28B22"/>
                </a:solidFill>
                <a:latin typeface="맑은 고딕"/>
              </a:rPr>
              <a:t>심화 Day 1. 도구 연동과 프레임워크 (8시간)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맑은 고딕"/>
              </a:rPr>
              <a:t>Function Calling과 LangChain 마스터하기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45920"/>
            <a:ext cx="3474720" cy="3200400"/>
          </a:xfrm>
          <a:prstGeom prst="rect">
            <a:avLst/>
          </a:prstGeom>
          <a:noFill/>
        </p:spPr>
        <p:txBody>
          <a:bodyPr wrap="square" tIns="91440" lIns="137160" rIns="13716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🔧 Function Calling: LLM에 도구 연결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Function Calling 메커니즘 이해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외부 API 연동 (날씨, 검색, DB 등)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에러 핸들링과 재시도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61688" y="1645920"/>
            <a:ext cx="3474720" cy="3200400"/>
          </a:xfrm>
          <a:prstGeom prst="rect">
            <a:avLst/>
          </a:prstGeom>
          <a:noFill/>
        </p:spPr>
        <p:txBody>
          <a:bodyPr wrap="square" tIns="91440" lIns="137160" rIns="13716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🔗 LangChain 기초와 LCEL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LangChain 아키텍처 이해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LangChain Expression Language (LCEL)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Prompt Template, Output Parser 활용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10728" y="1645920"/>
            <a:ext cx="3474720" cy="3200400"/>
          </a:xfrm>
          <a:prstGeom prst="rect">
            <a:avLst/>
          </a:prstGeom>
          <a:noFill/>
        </p:spPr>
        <p:txBody>
          <a:bodyPr wrap="square" tIns="91440" lIns="137160" rIns="13716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🧠 Memory를 활용한 대화형 체인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Conversation Buffer Memory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Conversation Summary Memory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실습: LangChain Agent 챗봇 구현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5303520"/>
            <a:ext cx="10972800" cy="914400"/>
          </a:xfrm>
          <a:prstGeom prst="rect">
            <a:avLst/>
          </a:prstGeom>
          <a:solidFill>
            <a:srgbClr val="D0F0C0"/>
          </a:solidFill>
          <a:ln>
            <a:solidFill>
              <a:srgbClr val="D0F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✅ 실습 예제: "도구를 사용하는 LangChain Agent 챗봇"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웹검색, 계산기, 날씨 API 등 도구 활용 | 사용자 요청에 따라 자동으로 적절한 도구 선택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8065008" y="1600200"/>
            <a:ext cx="3566160" cy="3291840"/>
          </a:xfrm>
          <a:prstGeom prst="roundRect">
            <a:avLst/>
          </a:prstGeom>
          <a:solidFill>
            <a:srgbClr val="D0F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3566160" cy="3291840"/>
          </a:xfrm>
          <a:prstGeom prst="roundRect">
            <a:avLst/>
          </a:prstGeom>
          <a:solidFill>
            <a:srgbClr val="D0F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612648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28B22"/>
                </a:solidFill>
                <a:latin typeface="맑은 고딕"/>
              </a:rPr>
              <a:t>심화 Day 2. RAG 구축과 튜닝 (8시간)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맑은 고딕"/>
              </a:rPr>
              <a:t>Retrieval-Augmented Generation 완벽 정복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45920"/>
            <a:ext cx="3474720" cy="3200400"/>
          </a:xfrm>
          <a:prstGeom prst="rect">
            <a:avLst/>
          </a:prstGeom>
          <a:noFill/>
        </p:spPr>
        <p:txBody>
          <a:bodyPr wrap="square" tIns="91440" lIns="137160" rIns="13716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🏗️ RAG 파이프라인: 인덱싱 → 검색 → 생성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Document Loader로 문서 로드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Text Splitter로 청킹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Vector Store (Chroma, FAISS)에 임베딩 저장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Retriever로 관련 문서 검색 후 LLM 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61688" y="1645920"/>
            <a:ext cx="3474720" cy="3200400"/>
          </a:xfrm>
          <a:prstGeom prst="rect">
            <a:avLst/>
          </a:prstGeom>
          <a:noFill/>
        </p:spPr>
        <p:txBody>
          <a:bodyPr wrap="square" tIns="91440" lIns="137160" rIns="13716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⚙️ 품질 튜닝: 청킹, 리랭킹, 하이브리드 검색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Chunk Size 최적화 전략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Cohere Reranker로 정확도 향상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BM25 + Vector Search 하이브리드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Metadata 필터링 활용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10728" y="1645920"/>
            <a:ext cx="3474720" cy="3200400"/>
          </a:xfrm>
          <a:prstGeom prst="rect">
            <a:avLst/>
          </a:prstGeom>
          <a:noFill/>
        </p:spPr>
        <p:txBody>
          <a:bodyPr wrap="square" tIns="91440" lIns="137160" rIns="13716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🌐 웹검색 통합 RAG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Tavily, Google Search API 연동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실시간 정보 + 내부 문서 통합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실습: 사내 문서 Q&amp;A 시스템 구현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5303520"/>
            <a:ext cx="10972800" cy="914400"/>
          </a:xfrm>
          <a:prstGeom prst="rect">
            <a:avLst/>
          </a:prstGeom>
          <a:solidFill>
            <a:srgbClr val="D0F0C0"/>
          </a:solidFill>
          <a:ln>
            <a:solidFill>
              <a:srgbClr val="D0F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✅ 실습 예제: "사내 문서 Q&amp;A 시스템"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회사 내부 PDF, Word 문서 인덱싱 | 질문에 대한 정확한 답변 + 출처 제공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8065008" y="1600200"/>
            <a:ext cx="3566160" cy="3291840"/>
          </a:xfrm>
          <a:prstGeom prst="roundRect">
            <a:avLst/>
          </a:prstGeom>
          <a:solidFill>
            <a:srgbClr val="D0F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15968" y="1600200"/>
            <a:ext cx="3566160" cy="3291840"/>
          </a:xfrm>
          <a:prstGeom prst="roundRect">
            <a:avLst/>
          </a:prstGeom>
          <a:solidFill>
            <a:srgbClr val="D0F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612648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28B22"/>
                </a:solidFill>
                <a:latin typeface="맑은 고딕"/>
              </a:rPr>
              <a:t>심화 Day 3. 고급 RAG와 에이전트 (8시간)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맑은 고딕"/>
              </a:rPr>
              <a:t>GraphRAG와 Multi-Agent System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45920"/>
            <a:ext cx="3474720" cy="3200400"/>
          </a:xfrm>
          <a:prstGeom prst="rect">
            <a:avLst/>
          </a:prstGeom>
          <a:noFill/>
        </p:spPr>
        <p:txBody>
          <a:bodyPr wrap="square" tIns="91440" lIns="137160" rIns="13716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🕸️ GraphRAG: 지식 그래프 기반 RAG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기존 RAG의 한계와 GraphRAG의 필요성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Neo4j, NetworkX로 지식 그래프 구축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엔티티 추출 → 관계 추출 → 그래프 쿼리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복잡한 질문에 대한 추론 능력 향상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61688" y="1645920"/>
            <a:ext cx="3474720" cy="3200400"/>
          </a:xfrm>
          <a:prstGeom prst="rect">
            <a:avLst/>
          </a:prstGeom>
          <a:noFill/>
        </p:spPr>
        <p:txBody>
          <a:bodyPr wrap="square" tIns="91440" lIns="137160" rIns="13716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🤖 Multi-Agent System 설계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에이전트 역할 분담 전략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Researcher, Coder, Reviewer 등 전문 에이전트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에이전트 간 통신 및 협업 패턴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10728" y="1645920"/>
            <a:ext cx="3474720" cy="3200400"/>
          </a:xfrm>
          <a:prstGeom prst="rect">
            <a:avLst/>
          </a:prstGeom>
          <a:noFill/>
        </p:spPr>
        <p:txBody>
          <a:bodyPr wrap="square" tIns="91440" lIns="137160" rIns="13716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📊 LangGraph를 활용한 에이전트 워크플로우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LangGraph로 복잡한 에이전트 흐름 설계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조건부 분기, 병렬 실행, 재귀 루프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실습: 멀티에이전트 리서치봇 구현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5303520"/>
            <a:ext cx="10972800" cy="914400"/>
          </a:xfrm>
          <a:prstGeom prst="rect">
            <a:avLst/>
          </a:prstGeom>
          <a:solidFill>
            <a:srgbClr val="D0F0C0"/>
          </a:solidFill>
          <a:ln>
            <a:solidFill>
              <a:srgbClr val="D0F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✅ 실습 예제: "멀티에이전트 리서치봇"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Researcher → Analyzer → Writer 에이전트 파이프라인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ounded Rectangle 7"/>
          <p:cNvSpPr/>
          <p:nvPr/>
        </p:nvSpPr>
        <p:spPr>
          <a:xfrm>
            <a:off x="4315968" y="1600200"/>
            <a:ext cx="3566160" cy="3291840"/>
          </a:xfrm>
          <a:prstGeom prst="roundRect">
            <a:avLst/>
          </a:prstGeom>
          <a:solidFill>
            <a:srgbClr val="D0F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612648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28B22"/>
                </a:solidFill>
                <a:latin typeface="맑은 고딕"/>
              </a:rPr>
              <a:t>심화 Day 4. 통합과 실무 적용 (8시간)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맑은 고딕"/>
              </a:rPr>
              <a:t>MCP와 Dify로 실전 프로젝트 완성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45920"/>
            <a:ext cx="3474720" cy="3200400"/>
          </a:xfrm>
          <a:prstGeom prst="rect">
            <a:avLst/>
          </a:prstGeom>
          <a:noFill/>
        </p:spPr>
        <p:txBody>
          <a:bodyPr wrap="square" tIns="91440" lIns="137160" rIns="13716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🔌 MCP: 표준화된 도구 통합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Model Context Protocol 개요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MCP 서버 구축 및 클라이언트 연결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다양한 도구를 표준 인터페이스로 통합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Claude Desktop, IDE에서 MCP 활용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61688" y="1645920"/>
            <a:ext cx="3474720" cy="3200400"/>
          </a:xfrm>
          <a:prstGeom prst="rect">
            <a:avLst/>
          </a:prstGeom>
          <a:noFill/>
        </p:spPr>
        <p:txBody>
          <a:bodyPr wrap="square" tIns="91440" lIns="137160" rIns="13716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🎨 Dify: 노코드 AI Agent 플랫폼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Dify 플랫폼 소개 및 설치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드래그앤드롭으로 RAG, Agent 워크플로우 구성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Knowledge Base, Tools 관리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API 배포 및 프론트엔드 연동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10728" y="1645920"/>
            <a:ext cx="3474720" cy="3200400"/>
          </a:xfrm>
          <a:prstGeom prst="rect">
            <a:avLst/>
          </a:prstGeom>
          <a:noFill/>
        </p:spPr>
        <p:txBody>
          <a:bodyPr wrap="square" tIns="91440" lIns="137160" rIns="13716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🚀 심화과정 종합 프로젝트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실습: 노코드 + 코드 하이브리드 Agent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Dify로 빠른 프로토타입 → Python으로 커스텀 확장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MCP로 외부 시스템 통합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5303520"/>
            <a:ext cx="10972800" cy="914400"/>
          </a:xfrm>
          <a:prstGeom prst="rect">
            <a:avLst/>
          </a:prstGeom>
          <a:solidFill>
            <a:srgbClr val="D0F0C0"/>
          </a:solidFill>
          <a:ln>
            <a:solidFill>
              <a:srgbClr val="D0F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✅ 실습 예제: "하이브리드 AI Agent 시스템"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Dify로 UI + 기본 워크플로우 | Python으로 고급 로직 | MCP로 사내 시스템 연동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28B22"/>
                </a:solidFill>
                <a:latin typeface="맑은 고딕"/>
              </a:rPr>
              <a:t>이 교육 과정의 3가지 차별점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맑은 고딕"/>
              </a:rPr>
              <a:t>왜 이 교육을 선택해야 하는가?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645920"/>
            <a:ext cx="3474720" cy="4389120"/>
          </a:xfrm>
          <a:prstGeom prst="rect">
            <a:avLst/>
          </a:prstGeom>
          <a:solidFill>
            <a:srgbClr val="D0F0C0"/>
          </a:solidFill>
          <a:ln>
            <a:solidFill>
              <a:srgbClr val="D0F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 rIns="137160"/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🎯 실전 즉시 투입 가능</a:t>
            </a:r>
          </a:p>
          <a:p>
            <a:pPr algn="l"/>
          </a:p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✅ 실습 비중 60%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• 매 모듈마다 hands-on 랩 제공</a:t>
            </a:r>
          </a:p>
          <a:p>
            <a:pPr algn="l"/>
          </a:p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✅ 5가지 실무 조합 패턴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• 사내 문서 Q&amp;A (RAG)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• AI 회의록 자동화 (STT+요약+TTS)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• 멀티에이전트 리서치봇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• 고객 상담 챗봇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• 이미지 분석 리포트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4361688" y="1645920"/>
            <a:ext cx="3474720" cy="4389120"/>
          </a:xfrm>
          <a:prstGeom prst="rect">
            <a:avLst/>
          </a:prstGeom>
          <a:solidFill>
            <a:srgbClr val="D0F0C0"/>
          </a:solidFill>
          <a:ln>
            <a:solidFill>
              <a:srgbClr val="D0F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 rIns="137160"/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🔥 2025년 최신 트렌드 반영</a:t>
            </a:r>
          </a:p>
          <a:p>
            <a:pPr algn="l"/>
          </a:p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✅ GraphRAG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• 차세대 RAG 기술</a:t>
            </a:r>
          </a:p>
          <a:p>
            <a:pPr algn="l"/>
          </a:p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✅ Multi-Agent System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• 여러 에이전트 협업 시스템</a:t>
            </a:r>
          </a:p>
          <a:p>
            <a:pPr algn="l"/>
          </a:p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✅ MCP (Model Context Protocol)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• 표준화된 도구 통합 프로토콜</a:t>
            </a:r>
          </a:p>
          <a:p>
            <a:pPr algn="l"/>
          </a:p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✅ Dify 노코드 플랫폼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• 빠른 프로토타입 + 코드 확장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8110728" y="1645920"/>
            <a:ext cx="3474720" cy="4389120"/>
          </a:xfrm>
          <a:prstGeom prst="rect">
            <a:avLst/>
          </a:prstGeom>
          <a:solidFill>
            <a:srgbClr val="D0F0C0"/>
          </a:solidFill>
          <a:ln>
            <a:solidFill>
              <a:srgbClr val="D0F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 rIns="137160"/>
          <a:lstStyle/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📊 체계적 평가 시스템</a:t>
            </a:r>
          </a:p>
          <a:p>
            <a:pPr algn="l"/>
          </a:p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✅ 일일 실습 평가 (50%)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• 매일 실습 과제 제출 및 피드백</a:t>
            </a:r>
          </a:p>
          <a:p>
            <a:pPr algn="l"/>
          </a:p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✅ 종합 프로젝트 (30%)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• 기본/심화 각 1회 실전 프로젝트</a:t>
            </a:r>
          </a:p>
          <a:p>
            <a:pPr algn="l"/>
          </a:p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✅ 이론 퀴즈 (20%)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맑은 고딕"/>
              </a:rPr>
              <a:t>• 핵심 개념 확인 퀴즈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28B22"/>
                </a:solidFill>
                <a:latin typeface="맑은 고딕"/>
              </a:rPr>
              <a:t>교육 후 바로 적용 가능한 5가지 패턴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맑은 고딕"/>
              </a:rPr>
              <a:t>실무 시나리오별 기술 조합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459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📚 사내 문서 Q&amp;A 시스템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기술: RAG + Vector DB + Reranker | 적용: HR 정책, 기술 매뉴얼, 법률 계약서 | 구현: 2-3일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5603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🎤 AI 회의록 자동화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기술: STT (Whisper) + 요약 (Map-Reduce) + TTS | 적용: 주간 회의, 고객 미팅 | 구현: 1-2일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4747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🤖 멀티에이전트 리서치봇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기술: Multi-Agent + 웹검색 + GraphRAG | 적용: 시장 조사, 경쟁사 분석 | 구현: 3-5일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3891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💬 고객 상담 챗봇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기술: Function Call + Conversation Memory + RAG | 적용: 고객 지원, FAQ 자동 응답 | 구현: 2-3일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3035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🖼️ 이미지 분석 리포트 생성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기술: VLM + 문서 생성 + 템플릿 엔진 | 적용: 품질 검사, 의료 이미지 분석 | 구현: 2-3일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5760720"/>
            <a:ext cx="10972800" cy="548640"/>
          </a:xfrm>
          <a:prstGeom prst="rect">
            <a:avLst/>
          </a:prstGeom>
          <a:solidFill>
            <a:srgbClr val="50C878"/>
          </a:solidFill>
          <a:ln>
            <a:solidFill>
              <a:srgbClr val="5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💡 교육 수료 후 1주일 내 실무 프로젝트 시작 가능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0F0C0"/>
          </a:solidFill>
          <a:ln>
            <a:solidFill>
              <a:srgbClr val="D0F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228B22"/>
                </a:solidFill>
                <a:latin typeface="맑은 고딕"/>
              </a:rPr>
              <a:t>7일 후, 당신은 AI 개발 전문가가 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468880"/>
            <a:ext cx="8534095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맑은 고딕"/>
              </a:rPr>
              <a:t>✅ LLM API부터 GraphRAG까지 완벽 마스터</a:t>
            </a:r>
          </a:p>
          <a:p>
            <a:pPr algn="ctr"/>
            <a:r>
              <a:rPr sz="1800" b="0">
                <a:solidFill>
                  <a:srgbClr val="333333"/>
                </a:solidFill>
                <a:latin typeface="맑은 고딕"/>
              </a:rPr>
              <a:t>✅ 실무에 바로 적용 가능한 5가지 패턴 습득</a:t>
            </a:r>
          </a:p>
          <a:p>
            <a:pPr algn="ctr"/>
            <a:r>
              <a:rPr sz="1800" b="0">
                <a:solidFill>
                  <a:srgbClr val="333333"/>
                </a:solidFill>
                <a:latin typeface="맑은 고딕"/>
              </a:rPr>
              <a:t>✅ 최신 트렌드(MCP, Dify, Multi-Agent) 완전 정복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840480"/>
            <a:ext cx="4876495" cy="7315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🚀 지금 바로 시작하세요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84632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맑은 고딕"/>
              </a:rPr>
              <a:t>📧 Email: education@example.com</a:t>
            </a:r>
          </a:p>
          <a:p>
            <a:pPr algn="ctr"/>
            <a:r>
              <a:rPr sz="1400" b="0">
                <a:solidFill>
                  <a:srgbClr val="333333"/>
                </a:solidFill>
                <a:latin typeface="맑은 고딕"/>
              </a:rPr>
              <a:t>📞 Tel: 02-1234-5678</a:t>
            </a:r>
          </a:p>
          <a:p>
            <a:pPr algn="ctr"/>
            <a:r>
              <a:rPr sz="1400" b="0">
                <a:solidFill>
                  <a:srgbClr val="333333"/>
                </a:solidFill>
                <a:latin typeface="맑은 고딕"/>
              </a:rPr>
              <a:t>🌐 Web: www.ai-education.com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943600"/>
            <a:ext cx="8534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808080"/>
                </a:solidFill>
                <a:latin typeface="맑은 고딕"/>
              </a:rPr>
              <a:t>Thank you for your attention!</a:t>
            </a:r>
          </a:p>
          <a:p>
            <a:pPr algn="ctr"/>
            <a:r>
              <a:rPr sz="1600" b="1">
                <a:solidFill>
                  <a:srgbClr val="808080"/>
                </a:solidFill>
                <a:latin typeface="맑은 고딕"/>
              </a:rPr>
              <a:t>Q&amp;A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