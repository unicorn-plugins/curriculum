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0"/>
            <a:ext cx="3657600" cy="2743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8B22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109728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어플리케이션</a:t>
            </a:r>
            <a:endParaRPr lang="en-US" sz="3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교육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731520" y="2834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기초부터 고급까지, 7일간의 완벽한 여정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228B2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45262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교육 과정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8B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시대, 개발자에게 요구되는 새로운 역량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개발자들이 겪고 있는 3가지 Pain Point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0"/>
          </a:xfrm>
          <a:prstGeom prst="line">
            <a:avLst/>
          </a:prstGeom>
          <a:noFill/>
          <a:ln w="19050">
            <a:solidFill>
              <a:srgbClr val="D0F0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25880"/>
            <a:ext cx="8046720" cy="1051560"/>
          </a:xfrm>
          <a:prstGeom prst="roundRect">
            <a:avLst>
              <a:gd name="adj" fmla="val 6957"/>
            </a:avLst>
          </a:prstGeom>
          <a:solidFill>
            <a:srgbClr val="D0F0C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LLM API는 알지만, 실전 적용 방법을 모른다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73736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호출은 할 수 있지만, 실무에 어떻게 적용해야 할지 막막함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챗봇을 넘어서는 복잡한 시스템 구현 경험 부족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8046720" cy="1051560"/>
          </a:xfrm>
          <a:prstGeom prst="roundRect">
            <a:avLst>
              <a:gd name="adj" fmla="val 6957"/>
            </a:avLst>
          </a:prstGeom>
          <a:solidFill>
            <a:srgbClr val="D0F0C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RAG, Agent 같은 용어는 들었지만 구현은 막막하다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92608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개념은 이해하지만, 실제 코드로 구현하는 방법을 모름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프레임워크(LangChain)는 복잡하고 러닝커브가 높음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8046720" cy="1051560"/>
          </a:xfrm>
          <a:prstGeom prst="roundRect">
            <a:avLst>
              <a:gd name="adj" fmla="val 6957"/>
            </a:avLst>
          </a:prstGeom>
          <a:solidFill>
            <a:srgbClr val="D0F0C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49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빠르게 변하는 AI 생태계, 체계적 학습 경로가 필요하다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411480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GraphRAG, MCP 등 새로운 기술이 너무 빠르게 등장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단편적인 튜토리얼만 보면서 학습하기엔 한계가 있음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8B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7일간의 완벽한 AI 개발 로드맵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 40% : 실습 60%의 실전 중심 커리큘럼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0"/>
          </a:xfrm>
          <a:prstGeom prst="line">
            <a:avLst/>
          </a:prstGeom>
          <a:noFill/>
          <a:ln w="19050">
            <a:solidFill>
              <a:srgbClr val="D0F0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25880"/>
            <a:ext cx="3749040" cy="3474720"/>
          </a:xfrm>
          <a:prstGeom prst="roundRect">
            <a:avLst>
              <a:gd name="adj" fmla="val 2632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325880"/>
            <a:ext cx="3749040" cy="457200"/>
          </a:xfrm>
          <a:prstGeom prst="rect">
            <a:avLst/>
          </a:prstGeom>
          <a:solidFill>
            <a:srgbClr val="50C87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258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1: 기본과정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187452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</a:rPr>
              <a:t>📅 3일 (24시간)  |  🎯 AI 개요부터 멀티모달까지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28B22"/>
                </a:solidFill>
              </a:rPr>
              <a:t>Day 1: AI 어플리케이션 기초 (8시간)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LLM API, 프롬프트 엔지니어링, 멀티턴 대화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28B22"/>
                </a:solidFill>
              </a:rPr>
              <a:t>Day 2: 문서 처리와 음성 AI (8시간)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문서 요약, PDF 처리, STT/TTS 파이프라인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28B22"/>
                </a:solidFill>
              </a:rPr>
              <a:t>Day 3: 비전 AI와 Local LLM (8시간)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VLM, Ollama, 종합 프로젝트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0C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846320" y="1325880"/>
            <a:ext cx="3749040" cy="3474720"/>
          </a:xfrm>
          <a:prstGeom prst="roundRect">
            <a:avLst>
              <a:gd name="adj" fmla="val 2632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325880"/>
            <a:ext cx="3749040" cy="457200"/>
          </a:xfrm>
          <a:prstGeom prst="rect">
            <a:avLst/>
          </a:prstGeom>
          <a:solidFill>
            <a:srgbClr val="228B22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3258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2: 심화과정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187452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</a:rPr>
              <a:t>📅 4일 (32시간)  |  🎯 RAG, Agent, MCP까지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28B22"/>
                </a:solidFill>
              </a:rPr>
              <a:t>Day 1: 도구 연동과 프레임워크 (8시간)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Function Call, LangChain, Memory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28B22"/>
                </a:solidFill>
              </a:rPr>
              <a:t>Day 2: RAG 구축과 튜닝 (8시간)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RAG 파이프라인, 품질 튜닝, 웹검색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28B22"/>
                </a:solidFill>
              </a:rPr>
              <a:t>Day 3: 고급 RAG와 에이전트 (8시간)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GraphRAG, Multi-Agent System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28B22"/>
                </a:solidFill>
              </a:rPr>
              <a:t>Day 4: 통합과 실무 적용 (8시간)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MCP, Dify, 종합 프로젝트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0" y="457200"/>
            <a:ext cx="274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228B22">
                    <a:alpha val="2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1. 기본과정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API 기초부터 멀티모달 AI까지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3일 (24시간)  |  이론 40% : 실습 60%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8B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1. AI 어플리케이션 기초 (8시간)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개요부터 멀티턴 대화 시스템까지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0"/>
          </a:xfrm>
          <a:prstGeom prst="line">
            <a:avLst/>
          </a:prstGeom>
          <a:noFill/>
          <a:ln w="19050">
            <a:solidFill>
              <a:srgbClr val="D0F0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417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개요와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개발환경 구축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92024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기본 개념 이해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API, OpenAI API 설정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개발환경 구성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(VSCode, Jupyter)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28016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417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9476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API 기초와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엔지니어링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92024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호출 메커니즘 이해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작성 전략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(Few-shot, Chain-of-Thought)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Temperature, Max Tokens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 파라미터 튜닝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52160" y="128016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89320" y="1417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4652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멀티턴 대화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구현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89320" y="192024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히스토리 관리 패턴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윈도우 최적화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실습: 역할극 챗봇 구현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8046720" cy="1097280"/>
          </a:xfrm>
          <a:prstGeom prst="roundRect">
            <a:avLst>
              <a:gd name="adj" fmla="val 6667"/>
            </a:avLst>
          </a:prstGeom>
          <a:solidFill>
            <a:srgbClr val="D0F0C0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8404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실습 예제: "페르소나를 가진 역할극 챗봇 구현"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다양한 역할(상담사, 면접관 등)을 수행하는 챗봇 | 대화 히스토리를 유지하며 자연스러운 응답 생성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8B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2. 문서 처리와 음성 AI (8시간)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요약부터 음성 대화 파이프라인까지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0"/>
          </a:xfrm>
          <a:prstGeom prst="line">
            <a:avLst/>
          </a:prstGeom>
          <a:noFill/>
          <a:ln w="19050">
            <a:solidFill>
              <a:srgbClr val="D0F0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417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요약과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분석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92024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Map-Reduce 패턴으로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문서 처리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품질 향상 전략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(청킹, 계층적 요약)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 분석, 키워드 추출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28016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417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📑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9476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문서 처리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및 Q&amp;A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92024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PyPDF2, pdfplumber를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활용한 PDF 파싱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구조화된 텍스트 추출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(테이블, 이미지 캡션)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기반 질의응답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구현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52160" y="128016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89320" y="1417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🎤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4652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AI: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STT + LLM + TTS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89320" y="192024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 API로 음성→텍스트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LLM으로 응답 생성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API로 음성 출력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실습: 음성 대화 파이프라인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8046720" cy="1097280"/>
          </a:xfrm>
          <a:prstGeom prst="roundRect">
            <a:avLst>
              <a:gd name="adj" fmla="val 6667"/>
            </a:avLst>
          </a:prstGeom>
          <a:solidFill>
            <a:srgbClr val="D0F0C0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8404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실습 예제: "음성 대화 파이프라인 구현"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음성 입력 → 텍스트 변환 → LLM 응답 → 음성 출력  |  실시간 대화 시스템 프로토타입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8B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3. 비전 AI와 Local LLM (8시간)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멀티모달 AI와 로컬 LLM 구축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0"/>
          </a:xfrm>
          <a:prstGeom prst="line">
            <a:avLst/>
          </a:prstGeom>
          <a:noFill/>
          <a:ln w="19050">
            <a:solidFill>
              <a:srgbClr val="D0F0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4754880" cy="1280160"/>
          </a:xfrm>
          <a:prstGeom prst="roundRect">
            <a:avLst>
              <a:gd name="adj" fmla="val 7143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32588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🖼️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325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VLM: 이미지를 이해하는 AI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7373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Vision Language Model 개요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Vision API, GPT-4 Vision 활용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분석, 캡션 생성, OCR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4754880" cy="1280160"/>
          </a:xfrm>
          <a:prstGeom prst="roundRect">
            <a:avLst>
              <a:gd name="adj" fmla="val 7143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274320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🖥️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2743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LLM 구축 (Ollama)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1546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 설치 및 모델 다운로드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Llama 3, Mistral 등 오픈소스 모델 활용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 vs Local 비교 및 선택 기준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0" y="1280160"/>
            <a:ext cx="310896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0F0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1417320"/>
          <a:ext cx="28346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Cloud LLM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F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F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F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F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C8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Local LLM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F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F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F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F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8B22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 최신 성능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 관리 불필요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❌ 비용 발생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❌ 데이터 전송 필요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0F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F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F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F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 데이터 프라이버시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 비용 효율성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❌ 성능 제한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❌ 인프라 관리 필요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0F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F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F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F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548640" y="416052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D0F0C0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41605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기본과정 종합 프로젝트: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멀티모달 리포트 생성기  |  이미지 분석 + 문서 요약 + 음성 출력 통합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0" y="457200"/>
            <a:ext cx="274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50C878">
                    <a:alpha val="2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2. 심화과정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Function Call부터 Multi-Agent까지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4일 (32시간)  |  실전 중심 고급 기술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8B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 Day 1. 도구 연동과 프레임워크 (8시간)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Function Calling과 LangChain 마스터하기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0"/>
          </a:xfrm>
          <a:prstGeom prst="line">
            <a:avLst/>
          </a:prstGeom>
          <a:noFill/>
          <a:ln w="19050">
            <a:solidFill>
              <a:srgbClr val="D0F0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417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Function Calling: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LLM에 도구 연결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92024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Function Calling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메커니즘 이해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 연동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(날씨, 검색, DB 등)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에러 핸들링과 재시도 전략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28016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417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9476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LangChain 기초와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LCEL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92024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LangChain 아키텍처 이해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LangChain Expression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Language (LCEL)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 Template,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Parser 활용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52160" y="128016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89320" y="1417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4652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Memory를 활용한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대화형 체인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89320" y="192024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Conversation Buffer Memory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Conversation Summary Memory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실습: LangChain Agent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챗봇 구현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8046720" cy="1097280"/>
          </a:xfrm>
          <a:prstGeom prst="roundRect">
            <a:avLst>
              <a:gd name="adj" fmla="val 6667"/>
            </a:avLst>
          </a:prstGeom>
          <a:solidFill>
            <a:srgbClr val="D0F0C0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8404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실습 예제: "도구를 사용하는 LangChain Agent 챗봇"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웹검색, 계산기, 날씨 API 등 도구 활용  |  사용자 요청에 따라 자동으로 적절한 도구 선택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8B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 Day 2. RAG 구축과 튜닝 (8시간)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Retrieval-Augmented Generation 완벽 정복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0"/>
          </a:xfrm>
          <a:prstGeom prst="line">
            <a:avLst/>
          </a:prstGeom>
          <a:noFill/>
          <a:ln w="19050">
            <a:solidFill>
              <a:srgbClr val="D0F0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417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🏗️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파이프라인: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인덱싱→검색→생성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92024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Document Loader로 문서 로드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Text Splitter로 청킹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Vector Store에 임베딩 저장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(Chroma, FAISS)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Retriever로 관련 문서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후 LLM 생성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28016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417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9476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튜닝: 청킹,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리랭킹, 하이브리드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92024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Chunk Size 최적화 전략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Cohere Reranker로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향상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BM25 + Vector Search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하이브리드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Metadata 필터링 활용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52160" y="128016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89320" y="1417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4652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웹검색 통합 RAG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89320" y="192024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Tavily, Google Search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연동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정보 + 내부 문서 통합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실습: 사내 문서 Q&amp;A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구현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8046720" cy="1097280"/>
          </a:xfrm>
          <a:prstGeom prst="roundRect">
            <a:avLst>
              <a:gd name="adj" fmla="val 6667"/>
            </a:avLst>
          </a:prstGeom>
          <a:solidFill>
            <a:srgbClr val="D0F0C0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8404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실습 예제: "사내 문서 Q&amp;A 시스템"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회사 내부 PDF, Word 문서 인덱싱  |  질문에 대한 정확한 답변 + 출처 제공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8B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 Day 3. 고급 RAG와 에이전트 (8시간)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GraphRAG와 Multi-Agent System 설계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0"/>
          </a:xfrm>
          <a:prstGeom prst="line">
            <a:avLst/>
          </a:prstGeom>
          <a:noFill/>
          <a:ln w="19050">
            <a:solidFill>
              <a:srgbClr val="D0F0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417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🕸️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GraphRAG: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 그래프 기반 RAG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92024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RAG의 한계와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GraphRAG의 필요성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Neo4j, NetworkX로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 그래프 구축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엔티티 추출 → 관계 추출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그래프 쿼리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28016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417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9476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Multi-Agent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설계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92024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역할 분담 전략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Researcher, Coder, Reviewer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 전문 에이전트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간 통신 및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 패턴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52160" y="128016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89320" y="1417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4652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LangGraph를 활용한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워크플로우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89320" y="192024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LangGraph로 복잡한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흐름 설계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조건부 분기, 병렬 실행,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재귀 루프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실습: 멀티에이전트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리서치봇 구현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8046720" cy="1097280"/>
          </a:xfrm>
          <a:prstGeom prst="roundRect">
            <a:avLst>
              <a:gd name="adj" fmla="val 6667"/>
            </a:avLst>
          </a:prstGeom>
          <a:solidFill>
            <a:srgbClr val="D0F0C0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8404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실습 예제: "멀티에이전트 리서치봇"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Researcher: 웹검색 정보 수집  |  Analyzer: 수집 정보 분석  |  Writer: 최종 리포트 작성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8B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 Day 4. 통합과 실무 적용 (8시간)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MCP와 Dify로 실전 프로젝트 완성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0"/>
          </a:xfrm>
          <a:prstGeom prst="line">
            <a:avLst/>
          </a:prstGeom>
          <a:noFill/>
          <a:ln w="19050">
            <a:solidFill>
              <a:srgbClr val="D0F0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417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🔌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MCP: 표준화된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통합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92024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 Context Protocol 개요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서버 구축 및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 연결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다양한 도구를 표준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인터페이스로 통합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Desktop, IDE에서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활용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28016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417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9476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Dify: 노코드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Agent 플랫폼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92024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Dify 플랫폼 소개 및 설치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드래그앤드롭으로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RAG, Agent 워크플로우 구성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Knowledge Base, Tools 관리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배포 및 프론트엔드 연동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52160" y="128016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89320" y="1417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4652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심화과정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프로젝트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89320" y="192024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실습: 노코드 + 코드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하이브리드 Agent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Dify로 빠른 프로토타입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Python으로 커스텀 확장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MCP로 외부 시스템 통합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8046720" cy="1097280"/>
          </a:xfrm>
          <a:prstGeom prst="roundRect">
            <a:avLst>
              <a:gd name="adj" fmla="val 6667"/>
            </a:avLst>
          </a:prstGeom>
          <a:solidFill>
            <a:srgbClr val="D0F0C0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8404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실습 예제: "하이브리드 AI Agent 시스템"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Dify로 UI와 기본 워크플로우 구성  |  Python으로 고급 로직 구현  |  MCP로 사내 시스템 연동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8B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교육 과정의 3가지 차별점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 교육을 선택해야 하는가?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3794760"/>
          </a:xfrm>
          <a:prstGeom prst="roundRect">
            <a:avLst>
              <a:gd name="adj" fmla="val 3448"/>
            </a:avLst>
          </a:prstGeom>
          <a:solidFill>
            <a:srgbClr val="D0F0C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43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 실전 즉시 투입 가능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2377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28B22"/>
                </a:solidFill>
              </a:rPr>
              <a:t>✅ 실습 비중 60%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</a:rPr>
              <a:t>매 모듈마다 hands-on 랩 제공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28B22"/>
                </a:solidFill>
              </a:rPr>
              <a:t>✅ 5가지 실무 조합 패턴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</a:rPr>
              <a:t>사내 문서 Q&amp;A (RAG)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</a:rPr>
              <a:t>AI 회의록 자동화 (STT+요약)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</a:rPr>
              <a:t>멀티에이전트 리서치봇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</a:rPr>
              <a:t>고객 상담 챗봇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</a:rPr>
              <a:t>이미지 분석 리포트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051560"/>
            <a:ext cx="2651760" cy="3794760"/>
          </a:xfrm>
          <a:prstGeom prst="roundRect">
            <a:avLst>
              <a:gd name="adj" fmla="val 3448"/>
            </a:avLst>
          </a:prstGeom>
          <a:solidFill>
            <a:srgbClr val="D0F0C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143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🔥  2025년 최신 트렌드 반영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29000" y="1645920"/>
            <a:ext cx="2377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28B22"/>
                </a:solidFill>
              </a:rPr>
              <a:t>✅ GraphRAG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</a:rPr>
              <a:t>MS가 개발한 차세대 RAG 기술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28B22"/>
                </a:solidFill>
              </a:rPr>
              <a:t>✅ Multi-Agent System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</a:rPr>
              <a:t>여러 에이전트가 협업하는 시스템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28B22"/>
                </a:solidFill>
              </a:rPr>
              <a:t>✅ Model Context Protocol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</a:rPr>
              <a:t>표준화된 도구 통합 프로토콜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28B22"/>
                </a:solidFill>
              </a:rPr>
              <a:t>✅ Dify 노코드 플랫폼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</a:rPr>
              <a:t>빠른 프로토타입 + 코드 확장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051560"/>
            <a:ext cx="2651760" cy="3794760"/>
          </a:xfrm>
          <a:prstGeom prst="roundRect">
            <a:avLst>
              <a:gd name="adj" fmla="val 3448"/>
            </a:avLst>
          </a:prstGeom>
          <a:solidFill>
            <a:srgbClr val="D0F0C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143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 체계적 평가 시스템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63640" y="1645920"/>
            <a:ext cx="2377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28B22"/>
                </a:solidFill>
              </a:rPr>
              <a:t>✅ 일일 실습 평가 (50%)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</a:rPr>
              <a:t>매일 실습 과제 제출 및 피드백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28B22"/>
                </a:solidFill>
              </a:rPr>
              <a:t>✅ 종합 프로젝트 (30%)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</a:rPr>
              <a:t>기본/심화 각 1회씩 실전 프로젝트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</a:rPr>
              <a:t>실무 시나리오 기반 과제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28B22"/>
                </a:solidFill>
              </a:rPr>
              <a:t>✅ 이론 퀴즈 (20%)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</a:rPr>
              <a:t>핵심 개념 확인 퀴즈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</a:rPr>
              <a:t>즉각적인 피드백 제공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8B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후 바로 적용 가능한 5가지 패턴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시나리오별 기술 조합 가이드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8046720" cy="0"/>
          </a:xfrm>
          <a:prstGeom prst="line">
            <a:avLst/>
          </a:prstGeom>
          <a:noFill/>
          <a:ln w="19050">
            <a:solidFill>
              <a:srgbClr val="D0F0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88720"/>
            <a:ext cx="80467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6350">
            <a:solidFill>
              <a:srgbClr val="D0F0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887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📚  사내 문서 Q&amp;A 시스템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08960" y="11887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+ Vector DB + Reranker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108960" y="14630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HR 정책 문서, 기술 매뉴얼, 법률 계약서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132320" y="1298448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50C878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0" y="12984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⏱ 2-3일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1847088"/>
            <a:ext cx="8046720" cy="566928"/>
          </a:xfrm>
          <a:prstGeom prst="roundRect">
            <a:avLst>
              <a:gd name="adj" fmla="val 8065"/>
            </a:avLst>
          </a:prstGeom>
          <a:solidFill>
            <a:srgbClr val="E8F5E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84708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🎤  AI 회의록 자동화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08960" y="18470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STT (Whisper) + 요약 (Map-Reduce) + TTS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108960" y="21214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회의, 고객 미팅, 교육 세션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32320" y="1956816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50C878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0" y="195681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⏱ 1-2일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2505456"/>
            <a:ext cx="80467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6350">
            <a:solidFill>
              <a:srgbClr val="D0F0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50545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 멀티에이전트 리서치봇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08960" y="250545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Multi-Agent System + 웹검색 + GraphRAG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108960" y="277977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조사, 경쟁사 분석, 기술 동향 분석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32320" y="2615184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50C878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0" y="261518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⏱ 3-5일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163824"/>
            <a:ext cx="8046720" cy="566928"/>
          </a:xfrm>
          <a:prstGeom prst="roundRect">
            <a:avLst>
              <a:gd name="adj" fmla="val 8065"/>
            </a:avLst>
          </a:prstGeom>
          <a:solidFill>
            <a:srgbClr val="E8F5E9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16382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 고객 상담 챗봇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108960" y="316382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Function Call + Conversation Memory + RAG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108960" y="34381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지원, 제품 추천, FAQ 자동 응답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132320" y="3273552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50C878"/>
          </a:solidFill>
          <a:ln/>
        </p:spPr>
      </p:sp>
      <p:sp>
        <p:nvSpPr>
          <p:cNvPr id="29" name="Text 27"/>
          <p:cNvSpPr/>
          <p:nvPr/>
        </p:nvSpPr>
        <p:spPr>
          <a:xfrm>
            <a:off x="7132320" y="327355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⏱ 2-3일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3822192"/>
            <a:ext cx="80467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6350">
            <a:solidFill>
              <a:srgbClr val="D0F0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82219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🖼️  이미지 분석 리포트 생성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108960" y="38221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 + 문서 생성 + 템플릿 엔진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108960" y="4096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검사, 매장 모니터링, 의료 이미지 분석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132320" y="3931920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50C878"/>
          </a:solidFill>
          <a:ln/>
        </p:spPr>
      </p:sp>
      <p:sp>
        <p:nvSpPr>
          <p:cNvPr id="35" name="Text 33"/>
          <p:cNvSpPr/>
          <p:nvPr/>
        </p:nvSpPr>
        <p:spPr>
          <a:xfrm>
            <a:off x="7132320" y="39319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⏱ 2-3일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371600" y="4526280"/>
            <a:ext cx="6400800" cy="457200"/>
          </a:xfrm>
          <a:prstGeom prst="roundRect">
            <a:avLst>
              <a:gd name="adj" fmla="val 50000"/>
            </a:avLst>
          </a:prstGeom>
          <a:solidFill>
            <a:srgbClr val="50C878"/>
          </a:solidFill>
          <a:ln/>
        </p:spPr>
      </p:sp>
      <p:sp>
        <p:nvSpPr>
          <p:cNvPr id="37" name="Text 35"/>
          <p:cNvSpPr/>
          <p:nvPr/>
        </p:nvSpPr>
        <p:spPr>
          <a:xfrm>
            <a:off x="1371600" y="45262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교육 수료 후 1주일 내 실무 프로젝트 시작 가능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7일 후, 당신은</a:t>
            </a:r>
            <a:endParaRPr lang="en-US" sz="2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개발 전문가가 됩니다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371600" y="19202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LLM API부터 GraphRAG까지 완벽 마스터</a:t>
            </a:r>
            <a:endParaRPr lang="en-US" sz="16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실무에 바로 적용 가능한 5가지 패턴 습득</a:t>
            </a:r>
            <a:endParaRPr lang="en-US" sz="16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최신 트렌드(MCP, Dify, Multi-Agent) 완전 정복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0" y="3108960"/>
            <a:ext cx="4572000" cy="640080"/>
          </a:xfrm>
          <a:prstGeom prst="roundRect">
            <a:avLst>
              <a:gd name="adj" fmla="val 50000"/>
            </a:avLst>
          </a:prstGeom>
          <a:solidFill>
            <a:srgbClr val="228B22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0" y="31089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🚀 지금 바로 시작하세요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📧 Email: education@example.com    </a:t>
            </a:r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📞 Tel: 02-1234-5678    </a:t>
            </a:r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🌐 Web: www.ai-education.com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4389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Thank you for your attention!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 Session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생성형 AI 어플리케이션 개발 교육</dc:title>
  <dc:subject>PptxGenJS Presentation</dc:subject>
  <dc:creator>AI Education Team</dc:creator>
  <cp:lastModifiedBy>AI Education Team</cp:lastModifiedBy>
  <cp:revision>1</cp:revision>
  <dcterms:created xsi:type="dcterms:W3CDTF">2026-02-14T10:11:46Z</dcterms:created>
  <dcterms:modified xsi:type="dcterms:W3CDTF">2026-02-14T10:11:46Z</dcterms:modified>
</cp:coreProperties>
</file>