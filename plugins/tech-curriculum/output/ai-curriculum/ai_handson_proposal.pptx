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miring-inspiring-wright/mnt/gen-ai-curriculum/output/ai-curriculum/images/handson_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2D1045">
              <a:alpha val="7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29200" y="457200"/>
            <a:ext cx="1097280" cy="54864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0" y="685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어플리케이션 개발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Hands-On 교육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029200" y="2468880"/>
            <a:ext cx="45720" cy="64008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2487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OO기관 AI교육센터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12080" y="2761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홍길동 | AI 교육 전문가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347472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EDE4F5"/>
          </a:solidFill>
          <a:ln/>
        </p:spPr>
      </p:sp>
      <p:sp>
        <p:nvSpPr>
          <p:cNvPr id="12" name="Shape 9"/>
          <p:cNvSpPr/>
          <p:nvPr/>
        </p:nvSpPr>
        <p:spPr>
          <a:xfrm>
            <a:off x="4846320" y="3474720"/>
            <a:ext cx="54864" cy="100584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13" name="Text 10"/>
          <p:cNvSpPr/>
          <p:nvPr/>
        </p:nvSpPr>
        <p:spPr>
          <a:xfrm>
            <a:off x="5074920" y="35661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"AI는 도구를 넘어 사고의 확장입니다. 7일간의 여정이 여러분의 개발 역량에 새로운 차원을 열어드립니다."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45720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286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인사말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8686800" cy="7315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EDE4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"AI는 도구를 넘어 사고의 확장입니다. 7일간의 여정이 여러분의 개발 역량에 새로운 차원을 열어드립니다."</a:t>
            </a:r>
            <a:endParaRPr lang="en-US" sz="1400" dirty="0"/>
          </a:p>
        </p:txBody>
      </p:sp>
      <p:pic>
        <p:nvPicPr>
          <p:cNvPr id="7" name="Image 0" descr="/sessions/admiring-inspiring-wright/mnt/gen-ai-curriculum/output/ai-curriculum/images/handson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1280160" cy="128016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0" y="1920240"/>
            <a:ext cx="45720" cy="109728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9" name="Text 6"/>
          <p:cNvSpPr/>
          <p:nvPr/>
        </p:nvSpPr>
        <p:spPr>
          <a:xfrm>
            <a:off x="25146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홍길동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51460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교육 전문가 | OO기관 AI교육센터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514600" y="26517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1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AI/ML 분야 10년+ 경력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14600" y="29077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1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기업 AI 교육 프로그램 다수 설계 및 운영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514600" y="31638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1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LLM 어플리케이션 개발 전문가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14600" y="34198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1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前 OO기업 AI 연구소 책임연구원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14600" y="36758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1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관련 저서 및 기술 기고 다수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160520"/>
            <a:ext cx="8229600" cy="7315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education@example.com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0" y="4297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02-1234-5678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4892040"/>
            <a:ext cx="9144000" cy="2286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0" y="49103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45720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286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과정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028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기초부터 고급까지, 7일간의 완벽한 AI 개발 로드맵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7315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1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40% : 실습 60%의 실전 중심 커리큘럼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051560" cy="96012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08760" y="1691640"/>
            <a:ext cx="2788920" cy="960120"/>
          </a:xfrm>
          <a:prstGeom prst="rect">
            <a:avLst/>
          </a:prstGeom>
          <a:solidFill>
            <a:srgbClr val="F3F0F7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6916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어플리케이션 개발을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시작하려는 개발자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691640"/>
            <a:ext cx="1051560" cy="96012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9164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97880" y="1691640"/>
            <a:ext cx="2788920" cy="960120"/>
          </a:xfrm>
          <a:prstGeom prst="rect">
            <a:avLst/>
          </a:prstGeom>
          <a:solidFill>
            <a:srgbClr val="F3F0F7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16916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3일 + 심화 4일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7일 (56시간)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61488"/>
            <a:ext cx="1051560" cy="96012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61488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508760" y="2761488"/>
            <a:ext cx="2788920" cy="960120"/>
          </a:xfrm>
          <a:prstGeom prst="rect">
            <a:avLst/>
          </a:prstGeom>
          <a:solidFill>
            <a:srgbClr val="F3F0F7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2761488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8시간/일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(09:00 ~ 18:00)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761488"/>
            <a:ext cx="1051560" cy="96012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761488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:실습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97880" y="2761488"/>
            <a:ext cx="2788920" cy="960120"/>
          </a:xfrm>
          <a:prstGeom prst="rect">
            <a:avLst/>
          </a:prstGeom>
          <a:solidFill>
            <a:srgbClr val="F3F0F7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2761488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40% : 실습 60%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모듈 Hands-On Lab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31336"/>
            <a:ext cx="1051560" cy="96012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831336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508760" y="3831336"/>
            <a:ext cx="2788920" cy="960120"/>
          </a:xfrm>
          <a:prstGeom prst="rect">
            <a:avLst/>
          </a:prstGeom>
          <a:solidFill>
            <a:srgbClr val="F3F0F7"/>
          </a:solidFill>
          <a:ln/>
        </p:spPr>
      </p:sp>
      <p:sp>
        <p:nvSpPr>
          <p:cNvPr id="26" name="Text 24"/>
          <p:cNvSpPr/>
          <p:nvPr/>
        </p:nvSpPr>
        <p:spPr>
          <a:xfrm>
            <a:off x="1508760" y="3831336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API, RAG, MAS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MCP, Dify, GraphRAG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831336"/>
            <a:ext cx="1051560" cy="96012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831336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97880" y="3831336"/>
            <a:ext cx="2788920" cy="960120"/>
          </a:xfrm>
          <a:prstGeom prst="rect">
            <a:avLst/>
          </a:prstGeom>
          <a:solidFill>
            <a:srgbClr val="F3F0F7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3831336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50% + 프로젝트 30%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퀴즈 20%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286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9103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45720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286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028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기본과정 3일 + 심화과정 4일 커리큘럼 로드맵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7315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234440"/>
            <a:ext cx="3291840" cy="320040"/>
          </a:xfrm>
          <a:prstGeom prst="roundRect">
            <a:avLst>
              <a:gd name="adj" fmla="val 48571"/>
            </a:avLst>
          </a:prstGeom>
          <a:solidFill>
            <a:srgbClr val="7B3FA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1. 기본과정 (3일)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4434840" cy="320040"/>
          </a:xfrm>
          <a:prstGeom prst="roundRect">
            <a:avLst>
              <a:gd name="adj" fmla="val 48571"/>
            </a:avLst>
          </a:prstGeom>
          <a:solidFill>
            <a:srgbClr val="4A1B6D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2344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2. 심화과정 (4일)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1691640"/>
            <a:ext cx="1097280" cy="27432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03120" y="1691640"/>
            <a:ext cx="1097280" cy="27432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1691640"/>
            <a:ext cx="1097280" cy="27432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1691640"/>
            <a:ext cx="1108710" cy="27432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1691640"/>
            <a:ext cx="1108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43550" y="1691640"/>
            <a:ext cx="1108710" cy="27432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19" name="Text 17"/>
          <p:cNvSpPr/>
          <p:nvPr/>
        </p:nvSpPr>
        <p:spPr>
          <a:xfrm>
            <a:off x="5543550" y="1691640"/>
            <a:ext cx="1108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52260" y="1691640"/>
            <a:ext cx="1108710" cy="27432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21" name="Text 19"/>
          <p:cNvSpPr/>
          <p:nvPr/>
        </p:nvSpPr>
        <p:spPr>
          <a:xfrm>
            <a:off x="6652260" y="1691640"/>
            <a:ext cx="1108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60970" y="1691640"/>
            <a:ext cx="1108710" cy="27432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23" name="Text 21"/>
          <p:cNvSpPr/>
          <p:nvPr/>
        </p:nvSpPr>
        <p:spPr>
          <a:xfrm>
            <a:off x="7760970" y="1691640"/>
            <a:ext cx="11087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2057400"/>
            <a:ext cx="731520" cy="868680"/>
          </a:xfrm>
          <a:prstGeom prst="rect">
            <a:avLst/>
          </a:prstGeom>
          <a:solidFill>
            <a:srgbClr val="F3F0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20574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" y="2971800"/>
            <a:ext cx="731520" cy="868680"/>
          </a:xfrm>
          <a:prstGeom prst="rect">
            <a:avLst/>
          </a:prstGeom>
          <a:solidFill>
            <a:srgbClr val="F3F0F7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29718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886200"/>
            <a:ext cx="731520" cy="868680"/>
          </a:xfrm>
          <a:prstGeom prst="rect">
            <a:avLst/>
          </a:prstGeom>
          <a:solidFill>
            <a:srgbClr val="F3F0F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" y="38862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5840" y="2057400"/>
            <a:ext cx="1097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2057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개요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멀티턴 대화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03120" y="2057400"/>
            <a:ext cx="1097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2057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처리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AI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0" y="2057400"/>
            <a:ext cx="1097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2057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LLM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프로젝트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34840" y="2057400"/>
            <a:ext cx="110871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2057400"/>
            <a:ext cx="1108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체인 구성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543550" y="2057400"/>
            <a:ext cx="110871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43550" y="2057400"/>
            <a:ext cx="1108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기초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튜닝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웹검색 RAG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52260" y="2057400"/>
            <a:ext cx="110871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52260" y="2057400"/>
            <a:ext cx="1108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GraphRAG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760970" y="2057400"/>
            <a:ext cx="110871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60970" y="2057400"/>
            <a:ext cx="1108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Dify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프로젝트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05840" y="2971800"/>
            <a:ext cx="1097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API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API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Jupyter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103120" y="2971800"/>
            <a:ext cx="1097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0312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PyMuPDF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API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00400" y="2971800"/>
            <a:ext cx="1097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2971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API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434840" y="2971800"/>
            <a:ext cx="110871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34840" y="2971800"/>
            <a:ext cx="1108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 param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LCEL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543550" y="2971800"/>
            <a:ext cx="110871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43550" y="2971800"/>
            <a:ext cx="1108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FAISS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Tavily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52260" y="2971800"/>
            <a:ext cx="110871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52260" y="2971800"/>
            <a:ext cx="1108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Neo4j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CrewAI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760970" y="2971800"/>
            <a:ext cx="110871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60970" y="2971800"/>
            <a:ext cx="1108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SDK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Dify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005840" y="3886200"/>
            <a:ext cx="1097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5840" y="38862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 1-1~1-7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역할극 챗봇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103120" y="3886200"/>
            <a:ext cx="1097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03120" y="38862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 2-1~2-7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파이프라인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200400" y="3886200"/>
            <a:ext cx="1097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0" y="38862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 3-1~3-6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프로젝트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434840" y="3886200"/>
            <a:ext cx="110871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34840" y="3886200"/>
            <a:ext cx="1108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 4-1~4-8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챗봇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543550" y="3886200"/>
            <a:ext cx="110871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43550" y="3886200"/>
            <a:ext cx="1108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 5-1~5-8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Q&amp;A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652260" y="3886200"/>
            <a:ext cx="110871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52260" y="3886200"/>
            <a:ext cx="1108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 6-1~6-6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리서치봇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760970" y="3886200"/>
            <a:ext cx="110871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8BED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60970" y="3886200"/>
            <a:ext cx="1108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 7-1~7-6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프로젝트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0" y="4892040"/>
            <a:ext cx="9144000" cy="2286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73" name="Text 71"/>
          <p:cNvSpPr/>
          <p:nvPr/>
        </p:nvSpPr>
        <p:spPr>
          <a:xfrm>
            <a:off x="8229600" y="49103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64008" cy="347472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91440"/>
            <a:ext cx="8028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기본과정 상세 커리큘럼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438912"/>
            <a:ext cx="8028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1-2 | AI 어플리케이션 기초 ~ 문서 처리와 음성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786384"/>
            <a:ext cx="8686800" cy="7315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22960"/>
            <a:ext cx="8686800" cy="32004"/>
          </a:xfrm>
          <a:prstGeom prst="rect">
            <a:avLst/>
          </a:prstGeom>
          <a:solidFill>
            <a:srgbClr val="4A1B6D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59536"/>
          <a:ext cx="86868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463040"/>
                <a:gridCol w="457200"/>
                <a:gridCol w="3977640"/>
                <a:gridCol w="1143000"/>
                <a:gridCol w="1143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모듈명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1-1. 생성형 AI 개요와 개발환경 구축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개요, 토큰/컨텍스트, 개발환경 구축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1-1, 1-2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1-2. LLM API 기초와 프롬프트 엔지니어링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 API 구조, 메시지 역할, 파라미터 튜닝, 프롬프트 기법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1-3~1-5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1-3. 멀티턴 대화 시스템 구현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히스토리 관리, 스트리밍 응답, 역할극 챗봇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1-6, 1-7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1-4. Day 1 리뷰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퀴즈(10문항), 실습 결과 공유, Day 2 안내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퀴즈+토론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2-1. 문서 요약과 텍스트 분석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Map-Reduce 패턴, 구조화된 출력(JSON 모드)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2-1, 2-2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2-2. PDF 문서 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PDF 파싱(PyMuPDF), 문서 Q&amp;A 시스템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2-3, 2-4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2-3. 음성 AI: STT와 TTS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 STT, TTS API, 음성 대화 파이프라인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2-5~2-7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2-4. Day 2 리뷰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퀴즈(8문항), 비즈니스 토론, Day 3 안내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퀴즈+토론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892040"/>
            <a:ext cx="9144000" cy="2286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49103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45720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286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기본과정 상세 커리큘럼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028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| 비전 AI와 Local LLM, 기본과정 종합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7315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43000"/>
            <a:ext cx="8686800" cy="32004"/>
          </a:xfrm>
          <a:prstGeom prst="rect">
            <a:avLst/>
          </a:prstGeom>
          <a:solidFill>
            <a:srgbClr val="4A1B6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70432"/>
          <a:ext cx="86868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463040"/>
                <a:gridCol w="457200"/>
                <a:gridCol w="3977640"/>
                <a:gridCol w="1143000"/>
                <a:gridCol w="1143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모듈명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3-1. VLM: 비전-언어 모델 활용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Vision API, 이미지 분석/비교, OCR 대안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3-1~3-3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3-2. Local LLM 구축과 활용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Ollama 설치, 오픈소스 모델, Cloud vs Local 비교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3-4~3-6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3-3. 기본과정 종합 프로젝트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 프로젝트 3선택지 (AI 회의록 / 문서 Q&amp;A / 멀티모달 리포트)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 프로젝트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3-4. Day 3 리뷰 및 기본과정 마무리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퀴즈(8문항), 3일간 종합 정리, 심화과정 안내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퀴즈+리뷰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892040"/>
            <a:ext cx="9144000" cy="2286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49103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64008" cy="347472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91440"/>
            <a:ext cx="8028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심화과정 상세 커리큘럼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438912"/>
            <a:ext cx="8028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1-2 | 도구 연동과 프레임워크 ~ RAG 구축과 튜닝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786384"/>
            <a:ext cx="8686800" cy="7315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22960"/>
            <a:ext cx="8686800" cy="32004"/>
          </a:xfrm>
          <a:prstGeom prst="rect">
            <a:avLst/>
          </a:prstGeom>
          <a:solidFill>
            <a:srgbClr val="4A1B6D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59536"/>
          <a:ext cx="86868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463040"/>
                <a:gridCol w="457200"/>
                <a:gridCol w="3977640"/>
                <a:gridCol w="1143000"/>
                <a:gridCol w="1143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모듈명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4-1. Function Calling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FC 메커니즘, 도구 정의(JSON Schema), 병렬 호출, 실무 도구 챗봇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4-1~4-4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4-2. LangChain 기초와 체인 구성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LCEL 파이프라인, Memory, Agent 통합, SequentialChain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4-5~4-8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4-3. Day 1 리뷰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퀴즈(10문항), FC vs Agent 비교 토론, Day 2 안내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퀴즈+토론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5-1. RAG 파이프라인 기초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인덱싱(로더/청킹/임베딩), 벡터 검색, RetrievalQA 체인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5-1~5-3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5-2. RAG 품질 튜닝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청킹 최적화, 리랭킹(Cross-Encoder), 하이브리드 검색, 평가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5-4~5-6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5-3. 웹검색 통합 RAG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웹검색 API 연동, 정적+동적 하이브리드, 통합 Q&amp;A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5-7, 5-8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5-4. Day 2 리뷰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퀴즈(10문항), 사내 문서 Q&amp;A 설계 토론, Day 3 안내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퀴즈+토론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892040"/>
            <a:ext cx="9144000" cy="2286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49103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64008" cy="347472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91440"/>
            <a:ext cx="8028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심화과정 상세 커리큘럼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438912"/>
            <a:ext cx="8028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3-4 | 고급 RAG와 에이전트 ~ 통합과 실무 적용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786384"/>
            <a:ext cx="8686800" cy="7315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22960"/>
            <a:ext cx="8686800" cy="32004"/>
          </a:xfrm>
          <a:prstGeom prst="rect">
            <a:avLst/>
          </a:prstGeom>
          <a:solidFill>
            <a:srgbClr val="4A1B6D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59536"/>
          <a:ext cx="86868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463040"/>
                <a:gridCol w="457200"/>
                <a:gridCol w="3977640"/>
                <a:gridCol w="1143000"/>
                <a:gridCol w="1143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모듈명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B6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6-1. GraphRAG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지식 그래프 구축(LLM 엔티티/관계 추출), 그래프 검색, 하이브리드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6-1~6-3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6-2. Multi-Agent System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MAS 아키텍처(Supervisor/Hierarchical), LangGraph, 리서치봇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6-4~6-6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6-3. Day 3 리뷰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퀴즈(10문항), 베스트 프랙티스 공유, Day 4 안내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퀴즈+토론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7-1. MCP: Model Context Protocol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서버/클라이언트 구축, Transport, 도구 통합 봇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7-1~7-3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7-2. Dify: 노코드 AI Agent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Dify 워크플로우, Knowledge Base, API 배포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Lab 7-4~7-6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이론+실습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7-3. 심화과정 종합 프로젝트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실무급 프로젝트 3선택지 (지식관리 / 리서치봇 / 하이브리드 Agent)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 프로젝트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7-4. Day 4 리뷰 및 심화과정 마무리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퀴즈(8문항), 종합 정리, 커리어 적용 토론, 마무리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퀴즈+리뷰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B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892040"/>
            <a:ext cx="9144000" cy="2286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49103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45720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28600"/>
            <a:ext cx="8028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포인트 및 기대효과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028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교육 과정만의 3가지 핵심 차별점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7315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280160"/>
            <a:ext cx="2743200" cy="4572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325880"/>
            <a:ext cx="2743200" cy="342900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즉시 투입 가능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비중 60%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모듈마다 Hands-On Lab 제공</a:t>
            </a:r>
            <a:endParaRPr lang="en-US" sz="12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학습 직후 코딩 실습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 실무 조합 패턴:</a:t>
            </a:r>
            <a:endParaRPr lang="en-US" sz="12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문서 Q&amp;A (RAG)</a:t>
            </a:r>
            <a:endParaRPr lang="en-US" sz="12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회의록 자동화 (STT+요약)</a:t>
            </a:r>
            <a:endParaRPr lang="en-US" sz="12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리서치봇</a:t>
            </a:r>
            <a:endParaRPr lang="en-US" sz="12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상담 챗봇 (FC+Memory)</a:t>
            </a:r>
            <a:endParaRPr lang="en-US" sz="12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분석 리포트 (VLM)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743200" cy="4572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1325880"/>
            <a:ext cx="2743200" cy="342900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트렌드 반영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핵심 기술 포함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14884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GraphRAG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차세대 지식 그래프 RAG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 System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LangGraph 기반 협업 에이전트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(Model Context Protocol)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표준화된 도구 통합 프로토콜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Dify 노코드 플랫폼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빠른 프로토타입 + 코드 확장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280160"/>
            <a:ext cx="2743200" cy="4572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1325880"/>
            <a:ext cx="2743200" cy="3429000"/>
          </a:xfrm>
          <a:prstGeom prst="rect">
            <a:avLst/>
          </a:prstGeom>
          <a:solidFill>
            <a:srgbClr val="EDE4F5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B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체계적 평가 시스템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평가 체계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14884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실습 평가 (50%)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매일 Lab 과제 제출 + 피드백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프로젝트 (30%)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기본/심화 각 1회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실무 시나리오 기반 과제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퀴즈 (20%)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핵심 개념 확인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즉각적 피드백 제공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286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49103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457200"/>
            <a:ext cx="1097280" cy="54864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후, 당신은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전문가가 됩니다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1554480"/>
            <a:ext cx="2743200" cy="7315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828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API부터 GraphRAG까지 완벽 마스터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194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 바로 적용 가능한 5가지 패턴 습득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트렌드 (MCP, Dify, Multi-Agent) 완전 정복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310896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4A1B6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시작하세요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3840480"/>
            <a:ext cx="4572000" cy="7315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023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education@example.com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02-1234-5678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 for your attention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2860"/>
          </a:xfrm>
          <a:prstGeom prst="rect">
            <a:avLst/>
          </a:prstGeom>
          <a:solidFill>
            <a:srgbClr val="4A1B6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49103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어플리케이션 개발 Hands-On 교육 제안서</dc:title>
  <dc:subject>PptxGenJS Presentation</dc:subject>
  <dc:creator>AI Education Center</dc:creator>
  <cp:lastModifiedBy>AI Education Center</cp:lastModifiedBy>
  <cp:revision>1</cp:revision>
  <dcterms:created xsi:type="dcterms:W3CDTF">2026-02-14T21:17:45Z</dcterms:created>
  <dcterms:modified xsi:type="dcterms:W3CDTF">2026-02-14T21:17:45Z</dcterms:modified>
</cp:coreProperties>
</file>